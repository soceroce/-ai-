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JetBrains Mono" panose="02000009000000000000" pitchFamily="49"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팀 근성입니다. 저희 프로젝트는 '근거로 확인하는 AI 변경 요약'으로, Git 없이도 프로젝트 버전 사이에 무엇이 바뀌었는지 AI가 요약하고, 그 요약의 근거를 함께 보여주는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프로젝트를 해보신 분들은 이런 파일 이름이 익숙하실 겁니다. 최종, 최종수정, 진짜최종. Git을 쓰지 않는 입문자나 소규모 팀은 이렇게 파일을 복사해서 버전을 관리하는 경우가 많습니다. 문제는 버전이 쌓일수록 어떤 파일이 무엇이 바뀌었는지 직접 열어보지 않으면 알 수 없다는 점이고, 코드를 모르는 팀원에게는 더 어렵습니다.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방법을 보면, Git은 정확하지만 입문자에게 어렵고, diff 도구는 줄 단위로만 보여줘서 큰 그림을 보기 어렵습니다. AI 요약은 읽기 쉽지만 근거가 없고 환각이 있어서 그대로 믿기 어렵습니다. 그래서 저희는 AI 요약의 편리함과 직접 확인할 수 있는 근거를 함께 제공하는 도구가 필요하다고 봤습니다. 참고로 MemoV 같은 도구도 스냅샷 관리는 하지만, 여러 스냅샷을 비교해 근거와 함께 요약하는 기능은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프로젝트의 핵심 아이디어는 사실과 해석을 분리하는 것입니다. 어떤 파일이 몇 줄 바뀌었는지 같은 사실은 LLM에게 맡기지 않고 Python 엔진이 계산합니다. 그래서 사실 정보는 구조적으로 틀릴 수 없습니다. LLM은 그 변경이 무슨 의미인지 설명하는 해석만 맡고, 문장마다 근거가 되는 diff 조각을 반드시 지정해야 합니다. 시스템은 그 근거를 자동으로 대조해서 맞지 않으면 경고합니다.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네 가지입니다. 첫째, 두 스냅샷의 변경을 자동으로 분류합니다. 둘째, 사실 정보는 엔진이 만들어 오류 0%를 구조적으로 보장합니다. 셋째, AI가 쓴 문장마다 근거를 연결하고 불일치를 경고합니다. 넷째, 개발자와 비개발자에게 각각 맞는 리포트를 제공합니다. 이를 통해 변경 확인 시간을 줄이고, 코드를 모르는 팀원도 진행 상황을 파악할 수 있게 하는 것이 기대효과입니다.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범위입니다. 입력은 폴더나 zip 두 개이고, 섞어서 넣을 수도 있습니다. 폴더 구조가 바뀌어도 내용으로 같은 파일을 찾아 짝지어 줍니다. 지원 파일은 코드와 텍스트, 그리고 한글 문서와 워드 문서의 본문 텍스트입니다. 스캔 pdf, 이미지 내용, 서식 변경은 범위 밖으로 명확히 정했습니다. 처음에는 명령어로 실행해 HTML 리포트를 만들고, 이후 웹 화면으로 확장합니다.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적용하는 AI 기술은 생성형 AI, 즉 LLM과 자연어 처리입니다. 먼저 분명히 말씀드리면, 저희는 모델을 직접 학습시키지 않습니다. 대신 세 가지 설계로 LLM을 신뢰성 있게 씁니다. 정해진 JSON 형식으로만 답하게 하는 구조화 출력, 파일에서 폴더, 전체로 올라가는 계층적 요약, 그리고 모든 문장에 근거를 달게 하는 프롬프트입니다.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처리 흐름은 6단계입니다. 사용자가 폴더나 zip 두 개를 넣으면, 캐시나 빌드 파일 같은 노이즈를 걸러내고, 비교 엔진이 변경을 분류하고 통계를 냅니다. 여기까지는 LLM이 전혀 관여하지 않습니다. 4단계에서만 LLM이 요약을 쓰고, 5단계에서 그 요약을 근거와 다시 대조한 뒤, 6단계에서 리포트를 만듭니다. 파란색은 항상 같은 결과를 내는 규칙 기반 처리, 주황색이 LLM 처리입니다.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알고리즘 두 가지입니다. 왼쪽은 파일 매칭입니다. 경로가 같으면 바로 짝짓고, 경로가 달라도 내용이 같으면 이동, 비슷하면 이동 후 수정으로 분류합니다. 마지막으로 폴더 단위로 묶어서 폴더 이름이 바뀐 것도 한 줄로 보여줍니다. 아예 다른 프로젝트를 넣으면 경고를 띄웁니다. 오른쪽은 계층 요약입니다. 파일별로 먼저 요약하고, 이를 폴더, 전체 순서로 올립니다. 이때 핵심 키워드와 함수명을 위로 전달해서 세부 정보가 사라지지 않게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방식입니다. LLM은 왼쪽처럼 JSON으로 답하고, 근거로 H12 같은 변경 조각 번호를 지정합니다. 이 번호는 엔진이 미리 붙여둔 것입니다. 시스템은 오른쪽 네 가지를 자동으로 확인합니다. 근거가 실제로 있는지, 문장에 나온 함수명 같은 식별자가 그 근거 안에 실제로 있는지, 언급한 파일이 변경 목록에 있는지, 그리고 숫자를 썼는지입니다. 하나라도 어긋나면 경고를 띄우고, 클릭하면 근거 위치로 바로 이동해 사용자가 직접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세 곳에서 확보합니다. 팀원들의 예전 과제 파일, GitHub 공개 저장소, 그리고 직접 만든 테스트 세트입니다. 특히 GitHub 저장소의 커밋 두 개를 스냅샷으로 바꾸면, Git 기록 자체가 정답 역할을 해서 평가용 정답 데이터를 자동으로 얻을 수 있습니다. 전처리로는 노이즈 제외, 한글 인코딩 판별, 문서 텍스트 추출을 합니다. 윤리적으로는 개인정보나 비밀번호 파일이 LLM에 전송되지 않도록 자동으로 막고, 공개 저장소의 라이선스를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환경은 모두 무료 도구로 구성했습니다. 언어는 Python이고, 비교와 분석은 표준 라이브러리와 유사도 라이브러리를 씁니다. 한글 문서는 olefile로 직접 본문을 추출합니다. LLM은 Gemini Flash 무료 티어를 기본으로 하고, 한도가 걸리면 Groq나 로컬 모델로 바꿀 수 있도록 호출 부분을 분리했습니다. 모델을 학습시키지 않기 때문에 GPU 없이 개인 노트북으로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오늘 기획 발표인 10월 26일부터 11월 20일까지 약 4주입니다. 첫 이틀은 환경 구축과 데이터 수집, 이어서 11월 초까지 비교 엔진과 LLM 요약을 만들고, 근거 검증과 HTML 리포트를 붙여 11월 9일 중간보고 때 핵심 기능의 60%, 즉 비교부터 리포트까지 이어지는 MVP를 시연합니다. 이후 계층 요약과 비개발자 리포트, 웹 화면과 평가 실험을 진행하고, 11월 20일까지 기능 100%를 완성합니다. 핵심 흐름을 먼저 완성하기 때문에 일정이 밀려도 시연 가능한 결과물은 확보됩니다.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 분담입니다. 개발 전 과정은 조장인 지용준이 맡습니다. 기획과 구조 설계부터 비교 엔진, LLM 요약과 검증, 리포트와 화면, 평가 실험까지 담당합니다. 조원들은 각자 발표, 테스트 데이터 제공, 결과 검수, 자료 조사와 발표 자료 정리를 맡아 개발을 지원합니다.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예상되는 위험과 대응입니다. 가장 큰 기술 위험인 환각은 앞서 말씀드린 사실과 해석의 분리, 근거 검증으로 대응합니다. 대규모 변경은 계층 요약으로, 한글 파일을 읽지 못하는 경우는 변경됨 표시로 대체합니다. 무료 API 제한은 재시도 로직과 모델 교체 구조로, 일정 지연은 11월 9일 중간보고까지 MVP를 먼저 완성하는 전략으로 대응합니다. 개발이 조장에게 집중되는 만큼, 조원들이 데이터 제공과 검수, 발표를 나눠 맡고 매주 진행 상황을 공유해 병목을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지표는 실제로 측정할 수 있는 것만 정했습니다. 변경 분류는 정밀도, 재현율, F1으로 평가하고, 사실 정보는 구조상 오류가 0%입니다. 근거 검증은 오류 주입 방식으로 평가합니다. 정상 요약에 일부러 틀린 정보를 넣고, 검증기가 몇 개를 잡는지, 그리고 정상 문장에 잘못 경고를 띄우는 비율이 얼마인지 측정합니다. BLEU는 정답 요약문이 없는 과제라 사용하지 않았고, 목표 수치는 첫 실험 결과를 보고 확정할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테스트는 기능 확장이 끝난 11월 12일부터 18일 사이에, 수강생 5명 정도를 대상으로 개발자와 비개발자를 섞어서 진행합니다. 같은 스냅샷 쌍에서 주요 변경 세 가지를 찾게 하고, 직접 비교했을 때와 리포트를 썼을 때의 시간과 정답률을 비교합니다. 사용성은 표준 설문인 SUS로 측정합니다. 결과에 따라 검증 규칙, 프롬프트, 리포트 문구를 개선합니다.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기대효과는 교육, 협업, 기술 세 측면입니다. 입문자는 Git 없이도 버전 관리 개념을 익힐 수 있고, 팀은 비개발 팀원과 진행 상황을 쉽게 공유할 수 있으며, 근거 기반 AI 출력이라는 신뢰성 설계 사례가 됩니다. 한계도 분명히 있습니다. 의미 오류를 완전히 잡을 수는 없어서 최종 판단은 사용자가 하고, 서식이나 이미지 비교는 지원하지 않습니다. 후속으로는 두 번째 LLM으로 교차 검증하거나, Git과 구글 드라이브 연동, VS Code 확장 등으로 발전시킬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 자료입니다. 환각 문제의 근거로 자연어 생성 환각에 관한 서베이 논문을, 오류 주입 평가 방식의 근거로 뮤테이션 테스트 서베이 논문을 참고했습니다. 그 외 Python, Gemini API, 각종 라이브러리의 공식 문서와 한글 파일 형식 공개 문서를 참고합니다. 제출 전에 논문 서지 정보를 원문과 대조해 확인할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정리하면, 사실은 엔진이 만들고, 해석은 AI가 쓰고, 판단은 근거로 할 수 있게 하는 것이 저희 프로젝트의 핵심입니다.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87660"/>
          </a:xfrm>
          <a:prstGeom prst="rect">
            <a:avLst/>
          </a:prstGeom>
          <a:noFill/>
          <a:ln/>
        </p:spPr>
        <p:txBody>
          <a:bodyPr wrap="square" lIns="0" tIns="0" rIns="0" bIns="0" rtlCol="0" anchor="t"/>
          <a:lstStyle>
            <a:lvl1pPr algn="l" indent="0" marL="0">
              <a:lnSpc>
                <a:spcPct val="115000"/>
              </a:lnSpc>
              <a:buNone/>
              <a:defRPr lang="en-US" sz="3200" dirty="0">
                <a:solidFill>
                  <a:srgbClr val="1B2433"/>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20180"/>
            <a:ext cx="10566400" cy="4125020"/>
          </a:xfrm>
          <a:prstGeom prst="rect">
            <a:avLst/>
          </a:prstGeom>
          <a:noFill/>
          <a:ln/>
        </p:spPr>
        <p:txBody>
          <a:bodyPr wrap="square" lIns="0" tIns="0" rIns="0" bIns="0" rtlCol="0" anchor="t"/>
          <a:lstStyle>
            <a:lvl1pPr algn="l" indent="0" marL="0">
              <a:lnSpc>
                <a:spcPct val="140000"/>
              </a:lnSpc>
              <a:buNone/>
              <a:defRPr lang="en-US" sz="1600" dirty="0">
                <a:solidFill>
                  <a:srgbClr val="1B2433"/>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87660"/>
          </a:xfrm>
          <a:prstGeom prst="rect">
            <a:avLst/>
          </a:prstGeom>
          <a:noFill/>
          <a:ln/>
        </p:spPr>
        <p:txBody>
          <a:bodyPr wrap="square" lIns="0" tIns="0" rIns="0" bIns="0" rtlCol="0" anchor="t"/>
          <a:lstStyle>
            <a:lvl1pPr algn="l" indent="0" marL="0">
              <a:lnSpc>
                <a:spcPct val="115000"/>
              </a:lnSpc>
              <a:buNone/>
              <a:defRPr lang="en-US" sz="3200" dirty="0">
                <a:solidFill>
                  <a:srgbClr val="1B2433"/>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20180"/>
            <a:ext cx="10566400" cy="4125020"/>
          </a:xfrm>
          <a:prstGeom prst="rect">
            <a:avLst/>
          </a:prstGeom>
          <a:noFill/>
          <a:ln/>
        </p:spPr>
        <p:txBody>
          <a:bodyPr wrap="square" lIns="0" tIns="0" rIns="0" bIns="0" rtlCol="0" anchor="t"/>
          <a:lstStyle>
            <a:lvl1pPr algn="l" indent="0" marL="0">
              <a:lnSpc>
                <a:spcPct val="140000"/>
              </a:lnSpc>
              <a:buNone/>
              <a:defRPr lang="en-US" sz="1600" dirty="0">
                <a:solidFill>
                  <a:srgbClr val="1B2433"/>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0A06B"/>
                </a:solidFill>
                <a:latin typeface="IBM Plex Sans KR" pitchFamily="34" charset="0"/>
                <a:ea typeface="IBM Plex Sans KR" pitchFamily="34" charset="-122"/>
                <a:cs typeface="IBM Plex Sans KR" pitchFamily="34" charset="-120"/>
              </a:rPr>
              <a:t>2026 생성형AI활용 프로젝트 기획 발표</a:t>
            </a:r>
            <a:endParaRPr lang="en-US" sz="1500" dirty="0"/>
          </a:p>
        </p:txBody>
      </p:sp>
      <p:sp>
        <p:nvSpPr>
          <p:cNvPr id="3" name="Text 1"/>
          <p:cNvSpPr/>
          <p:nvPr>
            <p:ph type="title"/>
          </p:nvPr>
        </p:nvSpPr>
        <p:spPr>
          <a:xfrm>
            <a:off x="812800" y="1333500"/>
            <a:ext cx="10883392" cy="1544241"/>
          </a:xfrm>
          <a:prstGeom prst="rect">
            <a:avLst/>
          </a:prstGeom>
          <a:noFill/>
          <a:ln/>
        </p:spPr>
        <p:txBody>
          <a:bodyPr wrap="square" lIns="0" tIns="0" rIns="0" bIns="0" rtlCol="0" anchor="t">
            <a:normAutofit/>
          </a:bodyPr>
          <a:lstStyle/>
          <a:p>
            <a:pPr algn="l" indent="0" marL="0">
              <a:lnSpc>
                <a:spcPts val="5980"/>
              </a:lnSpc>
              <a:buNone/>
            </a:pPr>
            <a:r>
              <a:rPr lang="en-US" sz="5200" b="1" i="0" dirty="0">
                <a:solidFill>
                  <a:srgbClr val="F7F6F2"/>
                </a:solidFill>
                <a:latin typeface="IBM Plex Sans KR" pitchFamily="34" charset="0"/>
                <a:ea typeface="IBM Plex Sans KR" pitchFamily="34" charset="-122"/>
                <a:cs typeface="IBM Plex Sans KR" pitchFamily="34" charset="-120"/>
              </a:rPr>
              <a:t>근거로 확인하는</a:t>
            </a:r>
            <a:endParaRPr lang="en-US" sz="5200" dirty="0"/>
          </a:p>
          <a:p>
            <a:pPr algn="l" indent="0" marL="0">
              <a:lnSpc>
                <a:spcPts val="5980"/>
              </a:lnSpc>
              <a:buNone/>
            </a:pPr>
            <a:r>
              <a:rPr lang="en-US" sz="5200" b="1" i="0" dirty="0">
                <a:solidFill>
                  <a:srgbClr val="F7F6F2"/>
                </a:solidFill>
                <a:latin typeface="IBM Plex Sans KR" pitchFamily="34" charset="0"/>
                <a:ea typeface="IBM Plex Sans KR" pitchFamily="34" charset="-122"/>
                <a:cs typeface="IBM Plex Sans KR" pitchFamily="34" charset="-120"/>
              </a:rPr>
              <a:t>AI 변경 요약</a:t>
            </a:r>
            <a:endParaRPr lang="en-US" sz="5200" dirty="0"/>
          </a:p>
        </p:txBody>
      </p:sp>
      <p:sp>
        <p:nvSpPr>
          <p:cNvPr id="4" name="Text 2"/>
          <p:cNvSpPr/>
          <p:nvPr/>
        </p:nvSpPr>
        <p:spPr>
          <a:xfrm>
            <a:off x="812800" y="310634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2E0"/>
                </a:solidFill>
                <a:latin typeface="IBM Plex Sans KR" pitchFamily="34" charset="0"/>
                <a:ea typeface="IBM Plex Sans KR" pitchFamily="34" charset="-122"/>
                <a:cs typeface="IBM Plex Sans KR" pitchFamily="34" charset="-120"/>
              </a:rPr>
              <a:t>Git 없이 쓰는 프로젝트 버전 비교 도구</a:t>
            </a:r>
            <a:endParaRPr lang="en-US" sz="2000" dirty="0"/>
          </a:p>
        </p:txBody>
      </p:sp>
      <p:sp>
        <p:nvSpPr>
          <p:cNvPr id="5" name="Text 3"/>
          <p:cNvSpPr/>
          <p:nvPr/>
        </p:nvSpPr>
        <p:spPr>
          <a:xfrm>
            <a:off x="812800" y="4410770"/>
            <a:ext cx="1087140" cy="401241"/>
          </a:xfrm>
          <a:prstGeom prst="roundRect">
            <a:avLst>
              <a:gd name="adj" fmla="val 18991"/>
            </a:avLst>
          </a:prstGeom>
          <a:solidFill>
            <a:srgbClr val="26324A"/>
          </a:solidFill>
          <a:ln/>
        </p:spPr>
        <p:txBody>
          <a:bodyPr wrap="none" lIns="0" tIns="0" rIns="0" bIns="0" rtlCol="0" anchor="ctr">
            <a:normAutofit/>
          </a:bodyPr>
          <a:lstStyle/>
          <a:p>
            <a:pPr algn="ctr" indent="0" marL="0">
              <a:lnSpc>
                <a:spcPts val="1960"/>
              </a:lnSpc>
              <a:buNone/>
            </a:pPr>
            <a:r>
              <a:rPr lang="en-US" sz="1400" dirty="0">
                <a:solidFill>
                  <a:srgbClr val="C9D2E0"/>
                </a:solidFill>
                <a:latin typeface="JetBrains Mono" pitchFamily="49" charset="0"/>
                <a:ea typeface="JetBrains Mono" pitchFamily="49" charset="-122"/>
                <a:cs typeface="JetBrains Mono" pitchFamily="49" charset="-120"/>
              </a:rPr>
              <a:t>최종.zip</a:t>
            </a:r>
            <a:endParaRPr lang="en-US" sz="1400" dirty="0"/>
          </a:p>
        </p:txBody>
      </p:sp>
      <p:pic>
        <p:nvPicPr>
          <p:cNvPr id="6" name="Image 0" descr="connector">    </p:cNvPr>
          <p:cNvPicPr>
            <a:picLocks noChangeAspect="1"/>
          </p:cNvPicPr>
          <p:nvPr/>
        </p:nvPicPr>
        <p:blipFill>
          <a:blip r:embed="rId1"/>
          <a:srcRect l="0" r="0" t="0" b="0"/>
          <a:stretch/>
        </p:blipFill>
        <p:spPr>
          <a:xfrm>
            <a:off x="2014240" y="4560590"/>
            <a:ext cx="533400" cy="101600"/>
          </a:xfrm>
          <a:prstGeom prst="rect">
            <a:avLst/>
          </a:prstGeom>
        </p:spPr>
      </p:pic>
      <p:sp>
        <p:nvSpPr>
          <p:cNvPr id="7" name="Text 4"/>
          <p:cNvSpPr/>
          <p:nvPr/>
        </p:nvSpPr>
        <p:spPr>
          <a:xfrm>
            <a:off x="2661940" y="4410770"/>
            <a:ext cx="1442740" cy="401241"/>
          </a:xfrm>
          <a:prstGeom prst="roundRect">
            <a:avLst>
              <a:gd name="adj" fmla="val 18991"/>
            </a:avLst>
          </a:prstGeom>
          <a:solidFill>
            <a:srgbClr val="26324A"/>
          </a:solidFill>
          <a:ln/>
        </p:spPr>
        <p:txBody>
          <a:bodyPr wrap="none" lIns="0" tIns="0" rIns="0" bIns="0" rtlCol="0" anchor="ctr">
            <a:normAutofit/>
          </a:bodyPr>
          <a:lstStyle/>
          <a:p>
            <a:pPr algn="ctr" indent="0" marL="0">
              <a:lnSpc>
                <a:spcPts val="1960"/>
              </a:lnSpc>
              <a:buNone/>
            </a:pPr>
            <a:r>
              <a:rPr lang="en-US" sz="1400" dirty="0">
                <a:solidFill>
                  <a:srgbClr val="C9D2E0"/>
                </a:solidFill>
                <a:latin typeface="JetBrains Mono" pitchFamily="49" charset="0"/>
                <a:ea typeface="JetBrains Mono" pitchFamily="49" charset="-122"/>
                <a:cs typeface="JetBrains Mono" pitchFamily="49" charset="-120"/>
              </a:rPr>
              <a:t>진짜최종.zip</a:t>
            </a:r>
            <a:endParaRPr lang="en-US" sz="1400" dirty="0"/>
          </a:p>
        </p:txBody>
      </p:sp>
      <p:pic>
        <p:nvPicPr>
          <p:cNvPr id="8" name="Image 1" descr="connector">    </p:cNvPr>
          <p:cNvPicPr>
            <a:picLocks noChangeAspect="1"/>
          </p:cNvPicPr>
          <p:nvPr/>
        </p:nvPicPr>
        <p:blipFill>
          <a:blip r:embed="rId2"/>
          <a:srcRect l="0" r="0" t="0" b="0"/>
          <a:stretch/>
        </p:blipFill>
        <p:spPr>
          <a:xfrm>
            <a:off x="4218980" y="4560590"/>
            <a:ext cx="533400" cy="101600"/>
          </a:xfrm>
          <a:prstGeom prst="rect">
            <a:avLst/>
          </a:prstGeom>
        </p:spPr>
      </p:pic>
      <p:sp>
        <p:nvSpPr>
          <p:cNvPr id="9" name="Text 5"/>
          <p:cNvSpPr/>
          <p:nvPr/>
        </p:nvSpPr>
        <p:spPr>
          <a:xfrm>
            <a:off x="4866680" y="4410770"/>
            <a:ext cx="1545927" cy="401241"/>
          </a:xfrm>
          <a:prstGeom prst="roundRect">
            <a:avLst>
              <a:gd name="adj" fmla="val 18991"/>
            </a:avLst>
          </a:prstGeom>
          <a:solidFill>
            <a:srgbClr val="F0A06B"/>
          </a:solidFill>
          <a:ln/>
        </p:spPr>
        <p:txBody>
          <a:bodyPr wrap="none" lIns="0" tIns="0" rIns="0" bIns="0" rtlCol="0" anchor="ctr">
            <a:normAutofit/>
          </a:bodyPr>
          <a:lstStyle/>
          <a:p>
            <a:pPr algn="ct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무엇이 바뀌었나?</a:t>
            </a:r>
            <a:endParaRPr lang="en-US" sz="1400" dirty="0"/>
          </a:p>
        </p:txBody>
      </p:sp>
      <p:sp>
        <p:nvSpPr>
          <p:cNvPr id="10" name="Text 6"/>
          <p:cNvSpPr/>
          <p:nvPr/>
        </p:nvSpPr>
        <p:spPr>
          <a:xfrm>
            <a:off x="812800" y="5760740"/>
            <a:ext cx="71008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KR" pitchFamily="34" charset="0"/>
                <a:ea typeface="IBM Plex Sans KR" pitchFamily="34" charset="-122"/>
                <a:cs typeface="IBM Plex Sans KR" pitchFamily="34" charset="-120"/>
              </a:rPr>
              <a:t>팀 근성</a:t>
            </a:r>
            <a:endParaRPr lang="en-US" sz="1600" dirty="0"/>
          </a:p>
        </p:txBody>
      </p:sp>
      <p:sp>
        <p:nvSpPr>
          <p:cNvPr id="11" name="Text 7"/>
          <p:cNvSpPr/>
          <p:nvPr/>
        </p:nvSpPr>
        <p:spPr>
          <a:xfrm>
            <a:off x="7319764" y="5796359"/>
            <a:ext cx="4059436"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2E0"/>
                </a:solidFill>
                <a:latin typeface="IBM Plex Sans KR" pitchFamily="34" charset="0"/>
                <a:ea typeface="IBM Plex Sans KR" pitchFamily="34" charset="-122"/>
                <a:cs typeface="IBM Plex Sans KR" pitchFamily="34" charset="-120"/>
              </a:rPr>
              <a:t>지용준(조장) · 박민제 · 나현준 · 최림정 · 신동윤</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배경 및 필요성</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버전은 쌓이는데, 무엇이 바뀌었는지는 알기 어렵다</a:t>
            </a:r>
            <a:endParaRPr lang="en-US" sz="3200" dirty="0"/>
          </a:p>
        </p:txBody>
      </p:sp>
      <p:sp>
        <p:nvSpPr>
          <p:cNvPr id="4" name="Shape 2"/>
          <p:cNvSpPr/>
          <p:nvPr/>
        </p:nvSpPr>
        <p:spPr>
          <a:xfrm>
            <a:off x="819150" y="2028130"/>
            <a:ext cx="1264741" cy="899120"/>
          </a:xfrm>
          <a:prstGeom prst="roundRect">
            <a:avLst>
              <a:gd name="adj" fmla="val 10594"/>
            </a:avLst>
          </a:prstGeom>
          <a:solidFill>
            <a:srgbClr val="FDFCF9"/>
          </a:solidFill>
          <a:ln w="12700">
            <a:solidFill>
              <a:srgbClr val="D9D6CC"/>
            </a:solidFill>
            <a:prstDash val="solid"/>
          </a:ln>
        </p:spPr>
      </p:sp>
      <p:sp>
        <p:nvSpPr>
          <p:cNvPr id="5" name="Text 3"/>
          <p:cNvSpPr/>
          <p:nvPr/>
        </p:nvSpPr>
        <p:spPr>
          <a:xfrm>
            <a:off x="1028700" y="2212280"/>
            <a:ext cx="1014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3"/>
                </a:solidFill>
                <a:latin typeface="JetBrains Mono" pitchFamily="49" charset="0"/>
                <a:ea typeface="JetBrains Mono" pitchFamily="49" charset="-122"/>
                <a:cs typeface="JetBrains Mono" pitchFamily="49" charset="-120"/>
              </a:rPr>
              <a:t>과제.zip</a:t>
            </a:r>
            <a:endParaRPr lang="en-US" sz="1500" dirty="0"/>
          </a:p>
        </p:txBody>
      </p:sp>
      <p:sp>
        <p:nvSpPr>
          <p:cNvPr id="6" name="Text 4"/>
          <p:cNvSpPr/>
          <p:nvPr/>
        </p:nvSpPr>
        <p:spPr>
          <a:xfrm>
            <a:off x="1028700" y="2529780"/>
            <a:ext cx="896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10/06</a:t>
            </a:r>
            <a:endParaRPr lang="en-US" sz="1200" dirty="0"/>
          </a:p>
        </p:txBody>
      </p:sp>
      <p:pic>
        <p:nvPicPr>
          <p:cNvPr id="7" name="Image 0" descr="connector">    </p:cNvPr>
          <p:cNvPicPr>
            <a:picLocks noChangeAspect="1"/>
          </p:cNvPicPr>
          <p:nvPr/>
        </p:nvPicPr>
        <p:blipFill>
          <a:blip r:embed="rId1"/>
          <a:srcRect l="0" r="0" t="0" b="0"/>
          <a:stretch/>
        </p:blipFill>
        <p:spPr>
          <a:xfrm>
            <a:off x="2179141" y="2426891"/>
            <a:ext cx="431800" cy="101600"/>
          </a:xfrm>
          <a:prstGeom prst="rect">
            <a:avLst/>
          </a:prstGeom>
        </p:spPr>
      </p:pic>
      <p:sp>
        <p:nvSpPr>
          <p:cNvPr id="8" name="Shape 5"/>
          <p:cNvSpPr/>
          <p:nvPr/>
        </p:nvSpPr>
        <p:spPr>
          <a:xfrm>
            <a:off x="2706191" y="2028130"/>
            <a:ext cx="1264741" cy="899120"/>
          </a:xfrm>
          <a:prstGeom prst="roundRect">
            <a:avLst>
              <a:gd name="adj" fmla="val 10594"/>
            </a:avLst>
          </a:prstGeom>
          <a:solidFill>
            <a:srgbClr val="FDFCF9"/>
          </a:solidFill>
          <a:ln w="12700">
            <a:solidFill>
              <a:srgbClr val="D9D6CC"/>
            </a:solidFill>
            <a:prstDash val="solid"/>
          </a:ln>
        </p:spPr>
      </p:sp>
      <p:sp>
        <p:nvSpPr>
          <p:cNvPr id="9" name="Text 6"/>
          <p:cNvSpPr/>
          <p:nvPr/>
        </p:nvSpPr>
        <p:spPr>
          <a:xfrm>
            <a:off x="2915741" y="2212280"/>
            <a:ext cx="1014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3"/>
                </a:solidFill>
                <a:latin typeface="JetBrains Mono" pitchFamily="49" charset="0"/>
                <a:ea typeface="JetBrains Mono" pitchFamily="49" charset="-122"/>
                <a:cs typeface="JetBrains Mono" pitchFamily="49" charset="-120"/>
              </a:rPr>
              <a:t>최종.zip</a:t>
            </a:r>
            <a:endParaRPr lang="en-US" sz="1500" dirty="0"/>
          </a:p>
        </p:txBody>
      </p:sp>
      <p:sp>
        <p:nvSpPr>
          <p:cNvPr id="10" name="Text 7"/>
          <p:cNvSpPr/>
          <p:nvPr/>
        </p:nvSpPr>
        <p:spPr>
          <a:xfrm>
            <a:off x="2915741" y="2529780"/>
            <a:ext cx="896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10/13</a:t>
            </a:r>
            <a:endParaRPr lang="en-US" sz="1200" dirty="0"/>
          </a:p>
        </p:txBody>
      </p:sp>
      <p:pic>
        <p:nvPicPr>
          <p:cNvPr id="11" name="Image 1" descr="connector">    </p:cNvPr>
          <p:cNvPicPr>
            <a:picLocks noChangeAspect="1"/>
          </p:cNvPicPr>
          <p:nvPr/>
        </p:nvPicPr>
        <p:blipFill>
          <a:blip r:embed="rId2"/>
          <a:srcRect l="0" r="0" t="0" b="0"/>
          <a:stretch/>
        </p:blipFill>
        <p:spPr>
          <a:xfrm>
            <a:off x="4066183" y="2426891"/>
            <a:ext cx="431800" cy="101600"/>
          </a:xfrm>
          <a:prstGeom prst="rect">
            <a:avLst/>
          </a:prstGeom>
        </p:spPr>
      </p:pic>
      <p:sp>
        <p:nvSpPr>
          <p:cNvPr id="12" name="Shape 8"/>
          <p:cNvSpPr/>
          <p:nvPr/>
        </p:nvSpPr>
        <p:spPr>
          <a:xfrm>
            <a:off x="4593233" y="2028130"/>
            <a:ext cx="1653183" cy="899120"/>
          </a:xfrm>
          <a:prstGeom prst="roundRect">
            <a:avLst>
              <a:gd name="adj" fmla="val 10594"/>
            </a:avLst>
          </a:prstGeom>
          <a:solidFill>
            <a:srgbClr val="FDFCF9"/>
          </a:solidFill>
          <a:ln w="12700">
            <a:solidFill>
              <a:srgbClr val="D9D6CC"/>
            </a:solidFill>
            <a:prstDash val="solid"/>
          </a:ln>
        </p:spPr>
      </p:sp>
      <p:sp>
        <p:nvSpPr>
          <p:cNvPr id="13" name="Text 9"/>
          <p:cNvSpPr/>
          <p:nvPr/>
        </p:nvSpPr>
        <p:spPr>
          <a:xfrm>
            <a:off x="4802783" y="2212280"/>
            <a:ext cx="143728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3"/>
                </a:solidFill>
                <a:latin typeface="JetBrains Mono" pitchFamily="49" charset="0"/>
                <a:ea typeface="JetBrains Mono" pitchFamily="49" charset="-122"/>
                <a:cs typeface="JetBrains Mono" pitchFamily="49" charset="-120"/>
              </a:rPr>
              <a:t>최종수정.zip</a:t>
            </a:r>
            <a:endParaRPr lang="en-US" sz="1500" dirty="0"/>
          </a:p>
        </p:txBody>
      </p:sp>
      <p:sp>
        <p:nvSpPr>
          <p:cNvPr id="14" name="Text 10"/>
          <p:cNvSpPr/>
          <p:nvPr/>
        </p:nvSpPr>
        <p:spPr>
          <a:xfrm>
            <a:off x="4802783" y="2529780"/>
            <a:ext cx="128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10/17</a:t>
            </a:r>
            <a:endParaRPr lang="en-US" sz="1200" dirty="0"/>
          </a:p>
        </p:txBody>
      </p:sp>
      <p:pic>
        <p:nvPicPr>
          <p:cNvPr id="15" name="Image 2" descr="connector">    </p:cNvPr>
          <p:cNvPicPr>
            <a:picLocks noChangeAspect="1"/>
          </p:cNvPicPr>
          <p:nvPr/>
        </p:nvPicPr>
        <p:blipFill>
          <a:blip r:embed="rId3"/>
          <a:srcRect l="0" r="0" t="0" b="0"/>
          <a:stretch/>
        </p:blipFill>
        <p:spPr>
          <a:xfrm>
            <a:off x="6341666" y="2426891"/>
            <a:ext cx="431800" cy="101600"/>
          </a:xfrm>
          <a:prstGeom prst="rect">
            <a:avLst/>
          </a:prstGeom>
        </p:spPr>
      </p:pic>
      <p:sp>
        <p:nvSpPr>
          <p:cNvPr id="16" name="Shape 11"/>
          <p:cNvSpPr/>
          <p:nvPr/>
        </p:nvSpPr>
        <p:spPr>
          <a:xfrm>
            <a:off x="6868716" y="2028130"/>
            <a:ext cx="1653183" cy="899120"/>
          </a:xfrm>
          <a:prstGeom prst="roundRect">
            <a:avLst>
              <a:gd name="adj" fmla="val 10594"/>
            </a:avLst>
          </a:prstGeom>
          <a:solidFill>
            <a:srgbClr val="FDFCF9"/>
          </a:solidFill>
          <a:ln w="12700">
            <a:solidFill>
              <a:srgbClr val="B44D1A"/>
            </a:solidFill>
            <a:prstDash val="solid"/>
          </a:ln>
        </p:spPr>
      </p:sp>
      <p:sp>
        <p:nvSpPr>
          <p:cNvPr id="17" name="Text 12"/>
          <p:cNvSpPr/>
          <p:nvPr/>
        </p:nvSpPr>
        <p:spPr>
          <a:xfrm>
            <a:off x="7078266" y="2212280"/>
            <a:ext cx="143728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3"/>
                </a:solidFill>
                <a:latin typeface="JetBrains Mono" pitchFamily="49" charset="0"/>
                <a:ea typeface="JetBrains Mono" pitchFamily="49" charset="-122"/>
                <a:cs typeface="JetBrains Mono" pitchFamily="49" charset="-120"/>
              </a:rPr>
              <a:t>진짜최종.zip</a:t>
            </a:r>
            <a:endParaRPr lang="en-US" sz="1500" dirty="0"/>
          </a:p>
        </p:txBody>
      </p:sp>
      <p:sp>
        <p:nvSpPr>
          <p:cNvPr id="18" name="Text 13"/>
          <p:cNvSpPr/>
          <p:nvPr/>
        </p:nvSpPr>
        <p:spPr>
          <a:xfrm>
            <a:off x="7078266" y="2529780"/>
            <a:ext cx="1284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KR" pitchFamily="34" charset="0"/>
                <a:ea typeface="IBM Plex Sans KR" pitchFamily="34" charset="-122"/>
                <a:cs typeface="IBM Plex Sans KR" pitchFamily="34" charset="-120"/>
              </a:rPr>
              <a:t>10/20</a:t>
            </a:r>
            <a:endParaRPr lang="en-US" sz="1200" dirty="0"/>
          </a:p>
        </p:txBody>
      </p:sp>
      <p:sp>
        <p:nvSpPr>
          <p:cNvPr id="19" name="Shape 14"/>
          <p:cNvSpPr/>
          <p:nvPr/>
        </p:nvSpPr>
        <p:spPr>
          <a:xfrm>
            <a:off x="812800" y="3352701"/>
            <a:ext cx="3386634" cy="0"/>
          </a:xfrm>
          <a:prstGeom prst="line">
            <a:avLst/>
          </a:prstGeom>
          <a:noFill/>
          <a:ln w="25400">
            <a:solidFill>
              <a:srgbClr val="1B2433"/>
            </a:solidFill>
            <a:prstDash val="solid"/>
          </a:ln>
        </p:spPr>
      </p:sp>
      <p:sp>
        <p:nvSpPr>
          <p:cNvPr id="20" name="Text 15"/>
          <p:cNvSpPr/>
          <p:nvPr/>
        </p:nvSpPr>
        <p:spPr>
          <a:xfrm>
            <a:off x="812800" y="3517801"/>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3"/>
                </a:solidFill>
                <a:latin typeface="IBM Plex Sans KR" pitchFamily="34" charset="0"/>
                <a:ea typeface="IBM Plex Sans KR" pitchFamily="34" charset="-122"/>
                <a:cs typeface="IBM Plex Sans KR" pitchFamily="34" charset="-120"/>
              </a:rPr>
              <a:t>현실</a:t>
            </a:r>
            <a:endParaRPr lang="en-US" sz="1600" dirty="0"/>
          </a:p>
        </p:txBody>
      </p:sp>
      <p:sp>
        <p:nvSpPr>
          <p:cNvPr id="21" name="Text 16"/>
          <p:cNvSpPr/>
          <p:nvPr/>
        </p:nvSpPr>
        <p:spPr>
          <a:xfrm>
            <a:off x="812800" y="3837781"/>
            <a:ext cx="348823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입문자와 소규모 팀은 파일을 복사하거나</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zip · 클라우드로 버전을 관리하는 경우가 많음</a:t>
            </a:r>
            <a:endParaRPr lang="en-US" sz="1400" dirty="0"/>
          </a:p>
        </p:txBody>
      </p:sp>
      <p:sp>
        <p:nvSpPr>
          <p:cNvPr id="22" name="Shape 17"/>
          <p:cNvSpPr/>
          <p:nvPr/>
        </p:nvSpPr>
        <p:spPr>
          <a:xfrm>
            <a:off x="4402634" y="3352701"/>
            <a:ext cx="3386634" cy="0"/>
          </a:xfrm>
          <a:prstGeom prst="line">
            <a:avLst/>
          </a:prstGeom>
          <a:noFill/>
          <a:ln w="25400">
            <a:solidFill>
              <a:srgbClr val="1B2433"/>
            </a:solidFill>
            <a:prstDash val="solid"/>
          </a:ln>
        </p:spPr>
      </p:sp>
      <p:sp>
        <p:nvSpPr>
          <p:cNvPr id="23" name="Text 18"/>
          <p:cNvSpPr/>
          <p:nvPr/>
        </p:nvSpPr>
        <p:spPr>
          <a:xfrm>
            <a:off x="4402634" y="3517801"/>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3"/>
                </a:solidFill>
                <a:latin typeface="IBM Plex Sans KR" pitchFamily="34" charset="0"/>
                <a:ea typeface="IBM Plex Sans KR" pitchFamily="34" charset="-122"/>
                <a:cs typeface="IBM Plex Sans KR" pitchFamily="34" charset="-120"/>
              </a:rPr>
              <a:t>문제</a:t>
            </a:r>
            <a:endParaRPr lang="en-US" sz="1600" dirty="0"/>
          </a:p>
        </p:txBody>
      </p:sp>
      <p:sp>
        <p:nvSpPr>
          <p:cNvPr id="24" name="Text 19"/>
          <p:cNvSpPr/>
          <p:nvPr/>
        </p:nvSpPr>
        <p:spPr>
          <a:xfrm>
            <a:off x="4402634" y="3837781"/>
            <a:ext cx="348823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어떤 파일이 바뀌었는지, 무엇이 달라졌는지</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매번 직접 열어서 비교해야 함</a:t>
            </a:r>
            <a:endParaRPr lang="en-US" sz="1400" dirty="0"/>
          </a:p>
        </p:txBody>
      </p:sp>
      <p:sp>
        <p:nvSpPr>
          <p:cNvPr id="25" name="Shape 20"/>
          <p:cNvSpPr/>
          <p:nvPr/>
        </p:nvSpPr>
        <p:spPr>
          <a:xfrm>
            <a:off x="7992467" y="3352701"/>
            <a:ext cx="3386634" cy="0"/>
          </a:xfrm>
          <a:prstGeom prst="line">
            <a:avLst/>
          </a:prstGeom>
          <a:noFill/>
          <a:ln w="25400">
            <a:solidFill>
              <a:srgbClr val="1B2433"/>
            </a:solidFill>
            <a:prstDash val="solid"/>
          </a:ln>
        </p:spPr>
      </p:sp>
      <p:sp>
        <p:nvSpPr>
          <p:cNvPr id="26" name="Text 21"/>
          <p:cNvSpPr/>
          <p:nvPr/>
        </p:nvSpPr>
        <p:spPr>
          <a:xfrm>
            <a:off x="7992467" y="3517801"/>
            <a:ext cx="348823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3"/>
                </a:solidFill>
                <a:latin typeface="IBM Plex Sans KR" pitchFamily="34" charset="0"/>
                <a:ea typeface="IBM Plex Sans KR" pitchFamily="34" charset="-122"/>
                <a:cs typeface="IBM Plex Sans KR" pitchFamily="34" charset="-120"/>
              </a:rPr>
              <a:t>영향</a:t>
            </a:r>
            <a:endParaRPr lang="en-US" sz="1600" dirty="0"/>
          </a:p>
        </p:txBody>
      </p:sp>
      <p:sp>
        <p:nvSpPr>
          <p:cNvPr id="27" name="Text 22"/>
          <p:cNvSpPr/>
          <p:nvPr/>
        </p:nvSpPr>
        <p:spPr>
          <a:xfrm>
            <a:off x="7992467" y="3837781"/>
            <a:ext cx="3488233"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코드를 모르는 기획 · 디자인 팀원은</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진행 상황을 파악하기 더 어려움</a:t>
            </a:r>
            <a:endParaRPr lang="en-US" sz="1400" dirty="0"/>
          </a:p>
        </p:txBody>
      </p:sp>
      <p:sp>
        <p:nvSpPr>
          <p:cNvPr id="28"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배경 및 필요성</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기존 방법의 한계</a:t>
            </a:r>
            <a:endParaRPr lang="en-US" sz="3200" dirty="0"/>
          </a:p>
        </p:txBody>
      </p:sp>
      <p:sp>
        <p:nvSpPr>
          <p:cNvPr id="4" name="Shape 2"/>
          <p:cNvSpPr/>
          <p:nvPr/>
        </p:nvSpPr>
        <p:spPr>
          <a:xfrm>
            <a:off x="815975" y="1974155"/>
            <a:ext cx="3380284" cy="2279650"/>
          </a:xfrm>
          <a:prstGeom prst="roundRect">
            <a:avLst>
              <a:gd name="adj" fmla="val 5432"/>
            </a:avLst>
          </a:prstGeom>
          <a:solidFill>
            <a:srgbClr val="FDFCF9"/>
          </a:solidFill>
          <a:ln w="6350">
            <a:solidFill>
              <a:srgbClr val="D9D6CC"/>
            </a:solidFill>
            <a:prstDash val="solid"/>
          </a:ln>
        </p:spPr>
      </p:sp>
      <p:pic>
        <p:nvPicPr>
          <p:cNvPr id="5" name="Image 0" descr="Code">    </p:cNvPr>
          <p:cNvPicPr>
            <a:picLocks noChangeAspect="1"/>
          </p:cNvPicPr>
          <p:nvPr/>
        </p:nvPicPr>
        <p:blipFill>
          <a:blip r:embed="rId1"/>
          <a:srcRect l="0" r="0" t="0" b="0"/>
          <a:stretch/>
        </p:blipFill>
        <p:spPr>
          <a:xfrm>
            <a:off x="1098550" y="2256730"/>
            <a:ext cx="355600" cy="355600"/>
          </a:xfrm>
          <a:prstGeom prst="rect">
            <a:avLst/>
          </a:prstGeom>
        </p:spPr>
      </p:pic>
      <p:sp>
        <p:nvSpPr>
          <p:cNvPr id="6" name="Text 3"/>
          <p:cNvSpPr/>
          <p:nvPr/>
        </p:nvSpPr>
        <p:spPr>
          <a:xfrm>
            <a:off x="1098550" y="273933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3"/>
                </a:solidFill>
                <a:latin typeface="IBM Plex Sans KR" pitchFamily="34" charset="0"/>
                <a:ea typeface="IBM Plex Sans KR" pitchFamily="34" charset="-122"/>
                <a:cs typeface="IBM Plex Sans KR" pitchFamily="34" charset="-120"/>
              </a:rPr>
              <a:t>Git</a:t>
            </a:r>
            <a:endParaRPr lang="en-US" sz="2000" dirty="0"/>
          </a:p>
        </p:txBody>
      </p:sp>
      <p:sp>
        <p:nvSpPr>
          <p:cNvPr id="7" name="Text 4"/>
          <p:cNvSpPr/>
          <p:nvPr/>
        </p:nvSpPr>
        <p:spPr>
          <a:xfrm>
            <a:off x="1098550" y="3171130"/>
            <a:ext cx="289958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변경 추적은 정확하지만</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명령어와 개념을 익혀야 해서</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입문자에게 진입 장벽이 높음</a:t>
            </a:r>
            <a:endParaRPr lang="en-US" sz="1400" dirty="0"/>
          </a:p>
        </p:txBody>
      </p:sp>
      <p:sp>
        <p:nvSpPr>
          <p:cNvPr id="8" name="Shape 5"/>
          <p:cNvSpPr/>
          <p:nvPr/>
        </p:nvSpPr>
        <p:spPr>
          <a:xfrm>
            <a:off x="4405809" y="1974155"/>
            <a:ext cx="3380284" cy="2279650"/>
          </a:xfrm>
          <a:prstGeom prst="roundRect">
            <a:avLst>
              <a:gd name="adj" fmla="val 5432"/>
            </a:avLst>
          </a:prstGeom>
          <a:solidFill>
            <a:srgbClr val="FDFCF9"/>
          </a:solidFill>
          <a:ln w="6350">
            <a:solidFill>
              <a:srgbClr val="D9D6CC"/>
            </a:solidFill>
            <a:prstDash val="solid"/>
          </a:ln>
        </p:spPr>
      </p:sp>
      <p:pic>
        <p:nvPicPr>
          <p:cNvPr id="9" name="Image 1" descr="Search">    </p:cNvPr>
          <p:cNvPicPr>
            <a:picLocks noChangeAspect="1"/>
          </p:cNvPicPr>
          <p:nvPr/>
        </p:nvPicPr>
        <p:blipFill>
          <a:blip r:embed="rId2"/>
          <a:srcRect l="0" r="0" t="0" b="0"/>
          <a:stretch/>
        </p:blipFill>
        <p:spPr>
          <a:xfrm>
            <a:off x="4688384" y="2256730"/>
            <a:ext cx="355600" cy="355600"/>
          </a:xfrm>
          <a:prstGeom prst="rect">
            <a:avLst/>
          </a:prstGeom>
        </p:spPr>
      </p:pic>
      <p:sp>
        <p:nvSpPr>
          <p:cNvPr id="10" name="Text 6"/>
          <p:cNvSpPr/>
          <p:nvPr/>
        </p:nvSpPr>
        <p:spPr>
          <a:xfrm>
            <a:off x="4688384" y="273933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3"/>
                </a:solidFill>
                <a:latin typeface="IBM Plex Sans KR" pitchFamily="34" charset="0"/>
                <a:ea typeface="IBM Plex Sans KR" pitchFamily="34" charset="-122"/>
                <a:cs typeface="IBM Plex Sans KR" pitchFamily="34" charset="-120"/>
              </a:rPr>
              <a:t>diff 비교 도구</a:t>
            </a:r>
            <a:endParaRPr lang="en-US" sz="2000" dirty="0"/>
          </a:p>
        </p:txBody>
      </p:sp>
      <p:sp>
        <p:nvSpPr>
          <p:cNvPr id="11" name="Text 7"/>
          <p:cNvSpPr/>
          <p:nvPr/>
        </p:nvSpPr>
        <p:spPr>
          <a:xfrm>
            <a:off x="4688384" y="3171130"/>
            <a:ext cx="289958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줄 단위 차이만 보여줘서</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파일이 많으면 전체적으로</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무엇이 바뀌었는지 파악하기 어려움</a:t>
            </a:r>
            <a:endParaRPr lang="en-US" sz="1400" dirty="0"/>
          </a:p>
        </p:txBody>
      </p:sp>
      <p:sp>
        <p:nvSpPr>
          <p:cNvPr id="12" name="Shape 8"/>
          <p:cNvSpPr/>
          <p:nvPr/>
        </p:nvSpPr>
        <p:spPr>
          <a:xfrm>
            <a:off x="7995642" y="1974155"/>
            <a:ext cx="3380284" cy="2279650"/>
          </a:xfrm>
          <a:prstGeom prst="roundRect">
            <a:avLst>
              <a:gd name="adj" fmla="val 5432"/>
            </a:avLst>
          </a:prstGeom>
          <a:solidFill>
            <a:srgbClr val="FDFCF9"/>
          </a:solidFill>
          <a:ln w="6350">
            <a:solidFill>
              <a:srgbClr val="D9D6CC"/>
            </a:solidFill>
            <a:prstDash val="solid"/>
          </a:ln>
        </p:spPr>
      </p:sp>
      <p:pic>
        <p:nvPicPr>
          <p:cNvPr id="13" name="Image 2" descr="Warning">    </p:cNvPr>
          <p:cNvPicPr>
            <a:picLocks noChangeAspect="1"/>
          </p:cNvPicPr>
          <p:nvPr/>
        </p:nvPicPr>
        <p:blipFill>
          <a:blip r:embed="rId3"/>
          <a:srcRect l="0" r="0" t="0" b="0"/>
          <a:stretch/>
        </p:blipFill>
        <p:spPr>
          <a:xfrm>
            <a:off x="8278217" y="2256730"/>
            <a:ext cx="355600" cy="355600"/>
          </a:xfrm>
          <a:prstGeom prst="rect">
            <a:avLst/>
          </a:prstGeom>
        </p:spPr>
      </p:pic>
      <p:sp>
        <p:nvSpPr>
          <p:cNvPr id="14" name="Text 9"/>
          <p:cNvSpPr/>
          <p:nvPr/>
        </p:nvSpPr>
        <p:spPr>
          <a:xfrm>
            <a:off x="8278217" y="273933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3"/>
                </a:solidFill>
                <a:latin typeface="IBM Plex Sans KR" pitchFamily="34" charset="0"/>
                <a:ea typeface="IBM Plex Sans KR" pitchFamily="34" charset="-122"/>
                <a:cs typeface="IBM Plex Sans KR" pitchFamily="34" charset="-120"/>
              </a:rPr>
              <a:t>AI 요약</a:t>
            </a:r>
            <a:endParaRPr lang="en-US" sz="2000" dirty="0"/>
          </a:p>
        </p:txBody>
      </p:sp>
      <p:sp>
        <p:nvSpPr>
          <p:cNvPr id="15" name="Text 10"/>
          <p:cNvSpPr/>
          <p:nvPr/>
        </p:nvSpPr>
        <p:spPr>
          <a:xfrm>
            <a:off x="8278217" y="3171130"/>
            <a:ext cx="2899588"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읽기 쉽지만 근거가 없고</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실제로 없는 변경을 지어내는</a:t>
            </a:r>
            <a:endParaRPr lang="en-US" sz="1400" dirty="0"/>
          </a:p>
          <a:p>
            <a:pPr algn="l" indent="0" marL="0">
              <a:lnSpc>
                <a:spcPts val="2100"/>
              </a:lnSpc>
              <a:buNone/>
            </a:pPr>
            <a:r>
              <a:rPr lang="en-US" sz="1400" dirty="0">
                <a:solidFill>
                  <a:srgbClr val="4A5568"/>
                </a:solidFill>
                <a:latin typeface="IBM Plex Sans KR" pitchFamily="34" charset="0"/>
                <a:ea typeface="IBM Plex Sans KR" pitchFamily="34" charset="-122"/>
                <a:cs typeface="IBM Plex Sans KR" pitchFamily="34" charset="-120"/>
              </a:rPr>
              <a:t>환각이 있어 그대로 믿기 어려움</a:t>
            </a:r>
            <a:endParaRPr lang="en-US" sz="1400" dirty="0"/>
          </a:p>
        </p:txBody>
      </p:sp>
      <p:sp>
        <p:nvSpPr>
          <p:cNvPr id="16" name="Shape 11"/>
          <p:cNvSpPr/>
          <p:nvPr/>
        </p:nvSpPr>
        <p:spPr>
          <a:xfrm>
            <a:off x="812800" y="4612580"/>
            <a:ext cx="10566400" cy="762000"/>
          </a:xfrm>
          <a:prstGeom prst="roundRect">
            <a:avLst>
              <a:gd name="adj" fmla="val 16667"/>
            </a:avLst>
          </a:prstGeom>
          <a:solidFill>
            <a:srgbClr val="1B2433"/>
          </a:solidFill>
          <a:ln/>
        </p:spPr>
      </p:sp>
      <p:pic>
        <p:nvPicPr>
          <p:cNvPr id="17" name="Image 3" descr="Lightbulb">    </p:cNvPr>
          <p:cNvPicPr>
            <a:picLocks noChangeAspect="1"/>
          </p:cNvPicPr>
          <p:nvPr/>
        </p:nvPicPr>
        <p:blipFill>
          <a:blip r:embed="rId4"/>
          <a:srcRect l="0" r="0" t="0" b="0"/>
          <a:stretch/>
        </p:blipFill>
        <p:spPr>
          <a:xfrm>
            <a:off x="1117600" y="4841180"/>
            <a:ext cx="304800" cy="304800"/>
          </a:xfrm>
          <a:prstGeom prst="rect">
            <a:avLst/>
          </a:prstGeom>
        </p:spPr>
      </p:pic>
      <p:sp>
        <p:nvSpPr>
          <p:cNvPr id="18" name="Text 12"/>
          <p:cNvSpPr/>
          <p:nvPr/>
        </p:nvSpPr>
        <p:spPr>
          <a:xfrm>
            <a:off x="1574800" y="4842470"/>
            <a:ext cx="5809655"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6F2"/>
                </a:solidFill>
                <a:latin typeface="IBM Plex Sans KR" pitchFamily="34" charset="0"/>
                <a:ea typeface="IBM Plex Sans KR" pitchFamily="34" charset="-122"/>
                <a:cs typeface="IBM Plex Sans KR" pitchFamily="34" charset="-120"/>
              </a:rPr>
              <a:t>필요한 것 : AI 요약의 </a:t>
            </a:r>
            <a:r>
              <a:rPr lang="en-US" sz="1700" dirty="0">
                <a:solidFill>
                  <a:srgbClr val="F0A06B"/>
                </a:solidFill>
                <a:latin typeface="IBM Plex Sans KR" pitchFamily="34" charset="0"/>
                <a:ea typeface="IBM Plex Sans KR" pitchFamily="34" charset="-122"/>
                <a:cs typeface="IBM Plex Sans KR" pitchFamily="34" charset="-120"/>
              </a:rPr>
              <a:t>편리함</a:t>
            </a:r>
            <a:r>
              <a:rPr lang="en-US" sz="1700" dirty="0">
                <a:solidFill>
                  <a:srgbClr val="F7F6F2"/>
                </a:solidFill>
                <a:latin typeface="IBM Plex Sans KR" pitchFamily="34" charset="0"/>
                <a:ea typeface="IBM Plex Sans KR" pitchFamily="34" charset="-122"/>
                <a:cs typeface="IBM Plex Sans KR" pitchFamily="34" charset="-120"/>
              </a:rPr>
              <a:t> + 직접 확인할 수 있는 </a:t>
            </a:r>
            <a:r>
              <a:rPr lang="en-US" sz="1700" dirty="0">
                <a:solidFill>
                  <a:srgbClr val="8FB1EE"/>
                </a:solidFill>
                <a:latin typeface="IBM Plex Sans KR" pitchFamily="34" charset="0"/>
                <a:ea typeface="IBM Plex Sans KR" pitchFamily="34" charset="-122"/>
                <a:cs typeface="IBM Plex Sans KR" pitchFamily="34" charset="-120"/>
              </a:rPr>
              <a:t>근거</a:t>
            </a:r>
            <a:endParaRPr lang="en-US" sz="1700" dirty="0"/>
          </a:p>
        </p:txBody>
      </p:sp>
      <p:sp>
        <p:nvSpPr>
          <p:cNvPr id="19"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B"/>
                </a:solidFill>
                <a:latin typeface="IBM Plex Sans KR" pitchFamily="34" charset="0"/>
                <a:ea typeface="IBM Plex Sans KR" pitchFamily="34" charset="-122"/>
                <a:cs typeface="IBM Plex Sans KR" pitchFamily="34" charset="-120"/>
              </a:rPr>
              <a:t>핵심 아이디어</a:t>
            </a:r>
            <a:endParaRPr lang="en-US" sz="1200" dirty="0"/>
          </a:p>
        </p:txBody>
      </p:sp>
      <p:sp>
        <p:nvSpPr>
          <p:cNvPr id="3" name="Text 1"/>
          <p:cNvSpPr/>
          <p:nvPr>
            <p:ph type="title"/>
          </p:nvPr>
        </p:nvSpPr>
        <p:spPr>
          <a:xfrm>
            <a:off x="812800" y="112772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7F6F2"/>
                </a:solidFill>
                <a:latin typeface="IBM Plex Sans KR" pitchFamily="34" charset="0"/>
                <a:ea typeface="IBM Plex Sans KR" pitchFamily="34" charset="-122"/>
                <a:cs typeface="IBM Plex Sans KR" pitchFamily="34" charset="-120"/>
              </a:rPr>
              <a:t>사실은 엔진이, 해석은 AI가</a:t>
            </a:r>
            <a:endParaRPr lang="en-US" sz="4000" dirty="0"/>
          </a:p>
        </p:txBody>
      </p:sp>
      <p:sp>
        <p:nvSpPr>
          <p:cNvPr id="4" name="Shape 2"/>
          <p:cNvSpPr/>
          <p:nvPr/>
        </p:nvSpPr>
        <p:spPr>
          <a:xfrm>
            <a:off x="812800" y="2118320"/>
            <a:ext cx="5156200" cy="1996380"/>
          </a:xfrm>
          <a:prstGeom prst="roundRect">
            <a:avLst>
              <a:gd name="adj" fmla="val 3817"/>
            </a:avLst>
          </a:prstGeom>
          <a:solidFill>
            <a:srgbClr val="22304A"/>
          </a:solidFill>
          <a:ln/>
        </p:spPr>
      </p:sp>
      <p:sp>
        <p:nvSpPr>
          <p:cNvPr id="5" name="Shape 3"/>
          <p:cNvSpPr/>
          <p:nvPr/>
        </p:nvSpPr>
        <p:spPr>
          <a:xfrm>
            <a:off x="812800" y="2118320"/>
            <a:ext cx="5156200" cy="1996380"/>
          </a:xfrm>
          <a:custGeom>
            <a:avLst/>
            <a:gdLst/>
            <a:ahLst/>
            <a:cxnLst/>
            <a:rect l="l" t="t" r="r" b="b"/>
            <a:pathLst>
              <a:path w="5156200" h="1996380">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8FB1EE"/>
          </a:solidFill>
          <a:ln/>
        </p:spPr>
      </p:sp>
      <p:sp>
        <p:nvSpPr>
          <p:cNvPr id="6" name="Text 4"/>
          <p:cNvSpPr/>
          <p:nvPr/>
        </p:nvSpPr>
        <p:spPr>
          <a:xfrm>
            <a:off x="1117600" y="2461220"/>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FB1EE"/>
                </a:solidFill>
                <a:latin typeface="IBM Plex Sans KR" pitchFamily="34" charset="0"/>
                <a:ea typeface="IBM Plex Sans KR" pitchFamily="34" charset="-122"/>
                <a:cs typeface="IBM Plex Sans KR" pitchFamily="34" charset="-120"/>
              </a:rPr>
              <a:t>사실 · Python 엔진</a:t>
            </a:r>
            <a:endParaRPr lang="en-US" sz="1300" dirty="0"/>
          </a:p>
        </p:txBody>
      </p:sp>
      <p:sp>
        <p:nvSpPr>
          <p:cNvPr id="7" name="Text 5"/>
          <p:cNvSpPr/>
          <p:nvPr/>
        </p:nvSpPr>
        <p:spPr>
          <a:xfrm>
            <a:off x="1117600" y="2819301"/>
            <a:ext cx="4682998"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7F6F2"/>
                </a:solidFill>
                <a:latin typeface="IBM Plex Sans KR" pitchFamily="34" charset="0"/>
                <a:ea typeface="IBM Plex Sans KR" pitchFamily="34" charset="-122"/>
                <a:cs typeface="IBM Plex Sans KR" pitchFamily="34" charset="-120"/>
              </a:rPr>
              <a:t>파일 목록, 변경 유형, 줄 개수, 이동 여부</a:t>
            </a:r>
            <a:endParaRPr lang="en-US" sz="2000" dirty="0"/>
          </a:p>
        </p:txBody>
      </p:sp>
      <p:sp>
        <p:nvSpPr>
          <p:cNvPr id="8" name="Text 6"/>
          <p:cNvSpPr/>
          <p:nvPr/>
        </p:nvSpPr>
        <p:spPr>
          <a:xfrm>
            <a:off x="1117600" y="3276501"/>
            <a:ext cx="468299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E0"/>
                </a:solidFill>
                <a:latin typeface="IBM Plex Sans KR" pitchFamily="34" charset="0"/>
                <a:ea typeface="IBM Plex Sans KR" pitchFamily="34" charset="-122"/>
                <a:cs typeface="IBM Plex Sans KR" pitchFamily="34" charset="-120"/>
              </a:rPr>
              <a:t>LLM을 사용하지 않고 엔진이 계산해 리포트에 그대로 넣음</a:t>
            </a:r>
            <a:endParaRPr lang="en-US" sz="1400" dirty="0"/>
          </a:p>
          <a:p>
            <a:pPr algn="l" indent="0" marL="0">
              <a:lnSpc>
                <a:spcPts val="2100"/>
              </a:lnSpc>
              <a:buNone/>
            </a:pPr>
            <a:r>
              <a:rPr lang="en-US" sz="1400" dirty="0">
                <a:solidFill>
                  <a:srgbClr val="C9D2E0"/>
                </a:solidFill>
                <a:latin typeface="IBM Plex Sans KR" pitchFamily="34" charset="0"/>
                <a:ea typeface="IBM Plex Sans KR" pitchFamily="34" charset="-122"/>
                <a:cs typeface="IBM Plex Sans KR" pitchFamily="34" charset="-120"/>
              </a:rPr>
              <a:t>= 사실 정보 오류 0%를 구조적으로 보장</a:t>
            </a:r>
            <a:endParaRPr lang="en-US" sz="1400" dirty="0"/>
          </a:p>
        </p:txBody>
      </p:sp>
      <p:sp>
        <p:nvSpPr>
          <p:cNvPr id="9" name="Shape 7"/>
          <p:cNvSpPr/>
          <p:nvPr/>
        </p:nvSpPr>
        <p:spPr>
          <a:xfrm>
            <a:off x="6223000" y="2118320"/>
            <a:ext cx="5156200" cy="1996380"/>
          </a:xfrm>
          <a:prstGeom prst="roundRect">
            <a:avLst>
              <a:gd name="adj" fmla="val 3817"/>
            </a:avLst>
          </a:prstGeom>
          <a:solidFill>
            <a:srgbClr val="22304A"/>
          </a:solidFill>
          <a:ln/>
        </p:spPr>
      </p:sp>
      <p:sp>
        <p:nvSpPr>
          <p:cNvPr id="10" name="Shape 8"/>
          <p:cNvSpPr/>
          <p:nvPr/>
        </p:nvSpPr>
        <p:spPr>
          <a:xfrm>
            <a:off x="6223000" y="2118320"/>
            <a:ext cx="5156200" cy="1996380"/>
          </a:xfrm>
          <a:custGeom>
            <a:avLst/>
            <a:gdLst/>
            <a:ahLst/>
            <a:cxnLst/>
            <a:rect l="l" t="t" r="r" b="b"/>
            <a:pathLst>
              <a:path w="5156200" h="1996380">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F0A06B"/>
          </a:solidFill>
          <a:ln/>
        </p:spPr>
      </p:sp>
      <p:sp>
        <p:nvSpPr>
          <p:cNvPr id="11" name="Text 9"/>
          <p:cNvSpPr/>
          <p:nvPr/>
        </p:nvSpPr>
        <p:spPr>
          <a:xfrm>
            <a:off x="6527800" y="2461220"/>
            <a:ext cx="4682998"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0A06B"/>
                </a:solidFill>
                <a:latin typeface="IBM Plex Sans KR" pitchFamily="34" charset="0"/>
                <a:ea typeface="IBM Plex Sans KR" pitchFamily="34" charset="-122"/>
                <a:cs typeface="IBM Plex Sans KR" pitchFamily="34" charset="-120"/>
              </a:rPr>
              <a:t>해석 · LLM</a:t>
            </a:r>
            <a:endParaRPr lang="en-US" sz="1300" dirty="0"/>
          </a:p>
        </p:txBody>
      </p:sp>
      <p:sp>
        <p:nvSpPr>
          <p:cNvPr id="12" name="Text 10"/>
          <p:cNvSpPr/>
          <p:nvPr/>
        </p:nvSpPr>
        <p:spPr>
          <a:xfrm>
            <a:off x="6527800" y="2819301"/>
            <a:ext cx="4682998"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7F6F2"/>
                </a:solidFill>
                <a:latin typeface="IBM Plex Sans KR" pitchFamily="34" charset="0"/>
                <a:ea typeface="IBM Plex Sans KR" pitchFamily="34" charset="-122"/>
                <a:cs typeface="IBM Plex Sans KR" pitchFamily="34" charset="-120"/>
              </a:rPr>
              <a:t>이 변경이 무슨 의미인지 설명하는 문장</a:t>
            </a:r>
            <a:endParaRPr lang="en-US" sz="2000" dirty="0"/>
          </a:p>
        </p:txBody>
      </p:sp>
      <p:sp>
        <p:nvSpPr>
          <p:cNvPr id="13" name="Text 11"/>
          <p:cNvSpPr/>
          <p:nvPr/>
        </p:nvSpPr>
        <p:spPr>
          <a:xfrm>
            <a:off x="6527800" y="3276501"/>
            <a:ext cx="468299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E0"/>
                </a:solidFill>
                <a:latin typeface="IBM Plex Sans KR" pitchFamily="34" charset="0"/>
                <a:ea typeface="IBM Plex Sans KR" pitchFamily="34" charset="-122"/>
                <a:cs typeface="IBM Plex Sans KR" pitchFamily="34" charset="-120"/>
              </a:rPr>
              <a:t>문장마다 근거 diff 조각을 반드시 지정하고</a:t>
            </a:r>
            <a:endParaRPr lang="en-US" sz="1400" dirty="0"/>
          </a:p>
          <a:p>
            <a:pPr algn="l" indent="0" marL="0">
              <a:lnSpc>
                <a:spcPts val="2100"/>
              </a:lnSpc>
              <a:buNone/>
            </a:pPr>
            <a:r>
              <a:rPr lang="en-US" sz="1400" dirty="0">
                <a:solidFill>
                  <a:srgbClr val="C9D2E0"/>
                </a:solidFill>
                <a:latin typeface="IBM Plex Sans KR" pitchFamily="34" charset="0"/>
                <a:ea typeface="IBM Plex Sans KR" pitchFamily="34" charset="-122"/>
                <a:cs typeface="IBM Plex Sans KR" pitchFamily="34" charset="-120"/>
              </a:rPr>
              <a:t>시스템이 근거와 자동 대조해 불일치를 경고</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6AB"/>
                </a:solidFill>
                <a:latin typeface="IBM Plex Sans KR" pitchFamily="34" charset="0"/>
                <a:ea typeface="IBM Plex Sans KR" pitchFamily="34" charset="-122"/>
                <a:cs typeface="IBM Plex Sans KR" pitchFamily="34" charset="-120"/>
              </a:rPr>
              <a:t>팀 근성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목표 및 기대효과</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네 가지 목표</a:t>
            </a:r>
            <a:endParaRPr lang="en-US" sz="3200" dirty="0"/>
          </a:p>
        </p:txBody>
      </p:sp>
      <p:sp>
        <p:nvSpPr>
          <p:cNvPr id="4" name="Shape 2"/>
          <p:cNvSpPr/>
          <p:nvPr/>
        </p:nvSpPr>
        <p:spPr>
          <a:xfrm>
            <a:off x="815975" y="1923355"/>
            <a:ext cx="5187950" cy="1281410"/>
          </a:xfrm>
          <a:prstGeom prst="roundRect">
            <a:avLst>
              <a:gd name="adj" fmla="val 9663"/>
            </a:avLst>
          </a:prstGeom>
          <a:solidFill>
            <a:srgbClr val="FDFCF9"/>
          </a:solidFill>
          <a:ln w="6350">
            <a:solidFill>
              <a:srgbClr val="D9D6CC"/>
            </a:solidFill>
            <a:prstDash val="solid"/>
          </a:ln>
        </p:spPr>
      </p:sp>
      <p:sp>
        <p:nvSpPr>
          <p:cNvPr id="5" name="Text 3"/>
          <p:cNvSpPr/>
          <p:nvPr/>
        </p:nvSpPr>
        <p:spPr>
          <a:xfrm>
            <a:off x="1073150" y="2155130"/>
            <a:ext cx="512088" cy="84326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F5FB3"/>
                </a:solidFill>
                <a:latin typeface="IBM Plex Sans KR" pitchFamily="34" charset="0"/>
                <a:ea typeface="IBM Plex Sans KR" pitchFamily="34" charset="-122"/>
                <a:cs typeface="IBM Plex Sans KR" pitchFamily="34" charset="-120"/>
              </a:rPr>
              <a:t>01</a:t>
            </a:r>
            <a:endParaRPr lang="en-US" sz="2800" dirty="0"/>
          </a:p>
        </p:txBody>
      </p:sp>
      <p:sp>
        <p:nvSpPr>
          <p:cNvPr id="6" name="Text 4"/>
          <p:cNvSpPr/>
          <p:nvPr/>
        </p:nvSpPr>
        <p:spPr>
          <a:xfrm>
            <a:off x="1677690" y="2155130"/>
            <a:ext cx="245933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변경 자동 분류</a:t>
            </a:r>
            <a:endParaRPr lang="en-US" sz="1700" dirty="0"/>
          </a:p>
        </p:txBody>
      </p:sp>
      <p:sp>
        <p:nvSpPr>
          <p:cNvPr id="7" name="Text 5"/>
          <p:cNvSpPr/>
          <p:nvPr/>
        </p:nvSpPr>
        <p:spPr>
          <a:xfrm>
            <a:off x="1677690" y="2477691"/>
            <a:ext cx="245933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폴더 · zip 두 개를 비교해</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추가 · 삭제 · 수정 · 이동을 자동 분류</a:t>
            </a:r>
            <a:endParaRPr lang="en-US" sz="1300" dirty="0"/>
          </a:p>
        </p:txBody>
      </p:sp>
      <p:sp>
        <p:nvSpPr>
          <p:cNvPr id="8" name="Shape 6"/>
          <p:cNvSpPr/>
          <p:nvPr/>
        </p:nvSpPr>
        <p:spPr>
          <a:xfrm>
            <a:off x="6188075" y="1923355"/>
            <a:ext cx="5187950" cy="1281410"/>
          </a:xfrm>
          <a:prstGeom prst="roundRect">
            <a:avLst>
              <a:gd name="adj" fmla="val 9663"/>
            </a:avLst>
          </a:prstGeom>
          <a:solidFill>
            <a:srgbClr val="FDFCF9"/>
          </a:solidFill>
          <a:ln w="6350">
            <a:solidFill>
              <a:srgbClr val="D9D6CC"/>
            </a:solidFill>
            <a:prstDash val="solid"/>
          </a:ln>
        </p:spPr>
      </p:sp>
      <p:sp>
        <p:nvSpPr>
          <p:cNvPr id="9" name="Text 7"/>
          <p:cNvSpPr/>
          <p:nvPr/>
        </p:nvSpPr>
        <p:spPr>
          <a:xfrm>
            <a:off x="6445250" y="2155130"/>
            <a:ext cx="512088" cy="84326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F5FB3"/>
                </a:solidFill>
                <a:latin typeface="IBM Plex Sans KR" pitchFamily="34" charset="0"/>
                <a:ea typeface="IBM Plex Sans KR" pitchFamily="34" charset="-122"/>
                <a:cs typeface="IBM Plex Sans KR" pitchFamily="34" charset="-120"/>
              </a:rPr>
              <a:t>02</a:t>
            </a:r>
            <a:endParaRPr lang="en-US" sz="2800" dirty="0"/>
          </a:p>
        </p:txBody>
      </p:sp>
      <p:sp>
        <p:nvSpPr>
          <p:cNvPr id="10" name="Text 8"/>
          <p:cNvSpPr/>
          <p:nvPr/>
        </p:nvSpPr>
        <p:spPr>
          <a:xfrm>
            <a:off x="7049790" y="2155130"/>
            <a:ext cx="209234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사실 정보 오류 0%</a:t>
            </a:r>
            <a:endParaRPr lang="en-US" sz="1700" dirty="0"/>
          </a:p>
        </p:txBody>
      </p:sp>
      <p:sp>
        <p:nvSpPr>
          <p:cNvPr id="11" name="Text 9"/>
          <p:cNvSpPr/>
          <p:nvPr/>
        </p:nvSpPr>
        <p:spPr>
          <a:xfrm>
            <a:off x="7049790" y="2477691"/>
            <a:ext cx="209234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파일 목록 · 변경 · 위치는</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엔진이 생성해 구조적으로 보장</a:t>
            </a:r>
            <a:endParaRPr lang="en-US" sz="1300" dirty="0"/>
          </a:p>
        </p:txBody>
      </p:sp>
      <p:sp>
        <p:nvSpPr>
          <p:cNvPr id="12" name="Shape 10"/>
          <p:cNvSpPr/>
          <p:nvPr/>
        </p:nvSpPr>
        <p:spPr>
          <a:xfrm>
            <a:off x="815975" y="3388916"/>
            <a:ext cx="5187950" cy="1281410"/>
          </a:xfrm>
          <a:prstGeom prst="roundRect">
            <a:avLst>
              <a:gd name="adj" fmla="val 9663"/>
            </a:avLst>
          </a:prstGeom>
          <a:solidFill>
            <a:srgbClr val="FDFCF9"/>
          </a:solidFill>
          <a:ln w="6350">
            <a:solidFill>
              <a:srgbClr val="D9D6CC"/>
            </a:solidFill>
            <a:prstDash val="solid"/>
          </a:ln>
        </p:spPr>
      </p:sp>
      <p:sp>
        <p:nvSpPr>
          <p:cNvPr id="13" name="Text 11"/>
          <p:cNvSpPr/>
          <p:nvPr/>
        </p:nvSpPr>
        <p:spPr>
          <a:xfrm>
            <a:off x="1073150" y="3620691"/>
            <a:ext cx="512088" cy="84326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4D1A"/>
                </a:solidFill>
                <a:latin typeface="IBM Plex Sans KR" pitchFamily="34" charset="0"/>
                <a:ea typeface="IBM Plex Sans KR" pitchFamily="34" charset="-122"/>
                <a:cs typeface="IBM Plex Sans KR" pitchFamily="34" charset="-120"/>
              </a:rPr>
              <a:t>03</a:t>
            </a:r>
            <a:endParaRPr lang="en-US" sz="2800" dirty="0"/>
          </a:p>
        </p:txBody>
      </p:sp>
      <p:sp>
        <p:nvSpPr>
          <p:cNvPr id="14" name="Text 12"/>
          <p:cNvSpPr/>
          <p:nvPr/>
        </p:nvSpPr>
        <p:spPr>
          <a:xfrm>
            <a:off x="1677690" y="3620691"/>
            <a:ext cx="225749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근거 연결과 자동 경고</a:t>
            </a:r>
            <a:endParaRPr lang="en-US" sz="1700" dirty="0"/>
          </a:p>
        </p:txBody>
      </p:sp>
      <p:sp>
        <p:nvSpPr>
          <p:cNvPr id="15" name="Text 13"/>
          <p:cNvSpPr/>
          <p:nvPr/>
        </p:nvSpPr>
        <p:spPr>
          <a:xfrm>
            <a:off x="1677690" y="3943251"/>
            <a:ext cx="2257494"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AI 문장마다 근거 diff를 연결하고</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불일치하면 경고 표시</a:t>
            </a:r>
            <a:endParaRPr lang="en-US" sz="1300" dirty="0"/>
          </a:p>
        </p:txBody>
      </p:sp>
      <p:sp>
        <p:nvSpPr>
          <p:cNvPr id="16" name="Shape 14"/>
          <p:cNvSpPr/>
          <p:nvPr/>
        </p:nvSpPr>
        <p:spPr>
          <a:xfrm>
            <a:off x="6188075" y="3388916"/>
            <a:ext cx="5187950" cy="1281410"/>
          </a:xfrm>
          <a:prstGeom prst="roundRect">
            <a:avLst>
              <a:gd name="adj" fmla="val 9663"/>
            </a:avLst>
          </a:prstGeom>
          <a:solidFill>
            <a:srgbClr val="FDFCF9"/>
          </a:solidFill>
          <a:ln w="6350">
            <a:solidFill>
              <a:srgbClr val="D9D6CC"/>
            </a:solidFill>
            <a:prstDash val="solid"/>
          </a:ln>
        </p:spPr>
      </p:sp>
      <p:sp>
        <p:nvSpPr>
          <p:cNvPr id="17" name="Text 15"/>
          <p:cNvSpPr/>
          <p:nvPr/>
        </p:nvSpPr>
        <p:spPr>
          <a:xfrm>
            <a:off x="6445250" y="3620691"/>
            <a:ext cx="512088" cy="84326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4D1A"/>
                </a:solidFill>
                <a:latin typeface="IBM Plex Sans KR" pitchFamily="34" charset="0"/>
                <a:ea typeface="IBM Plex Sans KR" pitchFamily="34" charset="-122"/>
                <a:cs typeface="IBM Plex Sans KR" pitchFamily="34" charset="-120"/>
              </a:rPr>
              <a:t>04</a:t>
            </a:r>
            <a:endParaRPr lang="en-US" sz="2800" dirty="0"/>
          </a:p>
        </p:txBody>
      </p:sp>
      <p:sp>
        <p:nvSpPr>
          <p:cNvPr id="18" name="Text 16"/>
          <p:cNvSpPr/>
          <p:nvPr/>
        </p:nvSpPr>
        <p:spPr>
          <a:xfrm>
            <a:off x="7049790" y="3620691"/>
            <a:ext cx="24359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사용자별 리포트</a:t>
            </a:r>
            <a:endParaRPr lang="en-US" sz="1700" dirty="0"/>
          </a:p>
        </p:txBody>
      </p:sp>
      <p:sp>
        <p:nvSpPr>
          <p:cNvPr id="19" name="Text 17"/>
          <p:cNvSpPr/>
          <p:nvPr/>
        </p:nvSpPr>
        <p:spPr>
          <a:xfrm>
            <a:off x="7049790" y="3943251"/>
            <a:ext cx="24359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개발자용 상세 리포트와</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비개발자용 쉬운 리포트를 따로 제공</a:t>
            </a:r>
            <a:endParaRPr lang="en-US" sz="1300" dirty="0"/>
          </a:p>
        </p:txBody>
      </p:sp>
      <p:sp>
        <p:nvSpPr>
          <p:cNvPr id="20" name="Shape 18"/>
          <p:cNvSpPr/>
          <p:nvPr/>
        </p:nvSpPr>
        <p:spPr>
          <a:xfrm>
            <a:off x="812800" y="4984651"/>
            <a:ext cx="10566400" cy="0"/>
          </a:xfrm>
          <a:prstGeom prst="line">
            <a:avLst/>
          </a:prstGeom>
          <a:noFill/>
          <a:ln w="12700">
            <a:solidFill>
              <a:srgbClr val="D9D6CC"/>
            </a:solidFill>
            <a:prstDash val="solid"/>
          </a:ln>
        </p:spPr>
      </p:sp>
      <p:sp>
        <p:nvSpPr>
          <p:cNvPr id="21" name="Text 19"/>
          <p:cNvSpPr/>
          <p:nvPr/>
        </p:nvSpPr>
        <p:spPr>
          <a:xfrm>
            <a:off x="812800" y="5177631"/>
            <a:ext cx="7069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4D1A"/>
                </a:solidFill>
                <a:latin typeface="IBM Plex Sans KR" pitchFamily="34" charset="0"/>
                <a:ea typeface="IBM Plex Sans KR" pitchFamily="34" charset="-122"/>
                <a:cs typeface="IBM Plex Sans KR" pitchFamily="34" charset="-120"/>
              </a:rPr>
              <a:t>기대효과</a:t>
            </a:r>
            <a:endParaRPr lang="en-US" sz="1300" dirty="0"/>
          </a:p>
        </p:txBody>
      </p:sp>
      <p:sp>
        <p:nvSpPr>
          <p:cNvPr id="22" name="Text 20"/>
          <p:cNvSpPr/>
          <p:nvPr/>
        </p:nvSpPr>
        <p:spPr>
          <a:xfrm>
            <a:off x="1528961" y="5168801"/>
            <a:ext cx="682609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변경 확인 시간 단축 · 비개발 팀원도 진행 상황 파악 · AI 요약을 근거로 검토 가능</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주요 내용 요약</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개발 범위</a:t>
            </a:r>
            <a:endParaRPr lang="en-US" sz="3200" dirty="0"/>
          </a:p>
        </p:txBody>
      </p:sp>
      <p:sp>
        <p:nvSpPr>
          <p:cNvPr id="4" name="Shape 2"/>
          <p:cNvSpPr/>
          <p:nvPr/>
        </p:nvSpPr>
        <p:spPr>
          <a:xfrm>
            <a:off x="812800" y="1920180"/>
            <a:ext cx="3386634" cy="2070001"/>
          </a:xfrm>
          <a:prstGeom prst="roundRect">
            <a:avLst>
              <a:gd name="adj" fmla="val 3681"/>
            </a:avLst>
          </a:prstGeom>
          <a:solidFill>
            <a:srgbClr val="FDFCF9"/>
          </a:solidFill>
          <a:ln/>
        </p:spPr>
      </p:sp>
      <p:sp>
        <p:nvSpPr>
          <p:cNvPr id="5" name="Shape 3"/>
          <p:cNvSpPr/>
          <p:nvPr/>
        </p:nvSpPr>
        <p:spPr>
          <a:xfrm>
            <a:off x="812800" y="1920180"/>
            <a:ext cx="3386634" cy="2070001"/>
          </a:xfrm>
          <a:custGeom>
            <a:avLst/>
            <a:gdLst/>
            <a:ahLst/>
            <a:cxnLst/>
            <a:rect l="l" t="t" r="r" b="b"/>
            <a:pathLst>
              <a:path w="3386634" h="207000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5FB3"/>
          </a:solidFill>
          <a:ln/>
        </p:spPr>
      </p:sp>
      <p:sp>
        <p:nvSpPr>
          <p:cNvPr id="6" name="Text 4"/>
          <p:cNvSpPr/>
          <p:nvPr/>
        </p:nvSpPr>
        <p:spPr>
          <a:xfrm>
            <a:off x="1066800"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입력</a:t>
            </a:r>
            <a:endParaRPr lang="en-US" sz="1700" dirty="0"/>
          </a:p>
        </p:txBody>
      </p:sp>
      <p:sp>
        <p:nvSpPr>
          <p:cNvPr id="7" name="Text 5"/>
          <p:cNvSpPr/>
          <p:nvPr/>
        </p:nvSpPr>
        <p:spPr>
          <a:xfrm>
            <a:off x="1138682" y="2598341"/>
            <a:ext cx="2885491" cy="1163241"/>
          </a:xfrm>
          <a:prstGeom prst="rect">
            <a:avLst/>
          </a:prstGeom>
          <a:noFill/>
          <a:ln/>
        </p:spPr>
        <p:txBody>
          <a:bodyPr wrap="square" lIns="0" tIns="0" rIns="0" bIns="0" rtlCol="0" anchor="t">
            <a:normAutofit/>
          </a:bodyPr>
          <a:lstStyle/>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폴더 ↔ 폴더</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zip ↔ zip</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폴더 ↔ zip 혼합</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구조가 바뀌어도 내용으로 짝 찾기</a:t>
            </a:r>
            <a:endParaRPr lang="en-US" sz="1400" dirty="0"/>
          </a:p>
        </p:txBody>
      </p:sp>
      <p:sp>
        <p:nvSpPr>
          <p:cNvPr id="8" name="Shape 6"/>
          <p:cNvSpPr/>
          <p:nvPr/>
        </p:nvSpPr>
        <p:spPr>
          <a:xfrm>
            <a:off x="4402634" y="1920180"/>
            <a:ext cx="3386634" cy="2070001"/>
          </a:xfrm>
          <a:prstGeom prst="roundRect">
            <a:avLst>
              <a:gd name="adj" fmla="val 3681"/>
            </a:avLst>
          </a:prstGeom>
          <a:solidFill>
            <a:srgbClr val="FDFCF9"/>
          </a:solidFill>
          <a:ln/>
        </p:spPr>
      </p:sp>
      <p:sp>
        <p:nvSpPr>
          <p:cNvPr id="9" name="Shape 7"/>
          <p:cNvSpPr/>
          <p:nvPr/>
        </p:nvSpPr>
        <p:spPr>
          <a:xfrm>
            <a:off x="4402634" y="1920180"/>
            <a:ext cx="3386634" cy="2070001"/>
          </a:xfrm>
          <a:custGeom>
            <a:avLst/>
            <a:gdLst/>
            <a:ahLst/>
            <a:cxnLst/>
            <a:rect l="l" t="t" r="r" b="b"/>
            <a:pathLst>
              <a:path w="3386634" h="207000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5FB3"/>
          </a:solidFill>
          <a:ln/>
        </p:spPr>
      </p:sp>
      <p:sp>
        <p:nvSpPr>
          <p:cNvPr id="10" name="Text 8"/>
          <p:cNvSpPr/>
          <p:nvPr/>
        </p:nvSpPr>
        <p:spPr>
          <a:xfrm>
            <a:off x="4656634"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지원 파일</a:t>
            </a:r>
            <a:endParaRPr lang="en-US" sz="1700" dirty="0"/>
          </a:p>
        </p:txBody>
      </p:sp>
      <p:sp>
        <p:nvSpPr>
          <p:cNvPr id="11" name="Text 9"/>
          <p:cNvSpPr/>
          <p:nvPr/>
        </p:nvSpPr>
        <p:spPr>
          <a:xfrm>
            <a:off x="4728516" y="2598341"/>
            <a:ext cx="2885491" cy="1163241"/>
          </a:xfrm>
          <a:prstGeom prst="rect">
            <a:avLst/>
          </a:prstGeom>
          <a:noFill/>
          <a:ln/>
        </p:spPr>
        <p:txBody>
          <a:bodyPr wrap="square" lIns="0" tIns="0" rIns="0" bIns="0" rtlCol="0" anchor="t">
            <a:normAutofit/>
          </a:bodyPr>
          <a:lstStyle/>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코드 · txt · md</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hwp · hwpx (본문 텍스트)</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docx (본문 텍스트)</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바이너리는 "변경됨"만 표시</a:t>
            </a:r>
            <a:endParaRPr lang="en-US" sz="1400" dirty="0"/>
          </a:p>
        </p:txBody>
      </p:sp>
      <p:sp>
        <p:nvSpPr>
          <p:cNvPr id="12" name="Shape 10"/>
          <p:cNvSpPr/>
          <p:nvPr/>
        </p:nvSpPr>
        <p:spPr>
          <a:xfrm>
            <a:off x="7992467" y="1920180"/>
            <a:ext cx="3386634" cy="2070001"/>
          </a:xfrm>
          <a:prstGeom prst="roundRect">
            <a:avLst>
              <a:gd name="adj" fmla="val 3681"/>
            </a:avLst>
          </a:prstGeom>
          <a:solidFill>
            <a:srgbClr val="ECEAE3"/>
          </a:solidFill>
          <a:ln/>
        </p:spPr>
      </p:sp>
      <p:sp>
        <p:nvSpPr>
          <p:cNvPr id="13" name="Shape 11"/>
          <p:cNvSpPr/>
          <p:nvPr/>
        </p:nvSpPr>
        <p:spPr>
          <a:xfrm>
            <a:off x="7992467" y="1920180"/>
            <a:ext cx="3386634" cy="2070001"/>
          </a:xfrm>
          <a:custGeom>
            <a:avLst/>
            <a:gdLst/>
            <a:ahLst/>
            <a:cxnLst/>
            <a:rect l="l" t="t" r="r" b="b"/>
            <a:pathLst>
              <a:path w="3386634" h="2070001">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8F99"/>
          </a:solidFill>
          <a:ln/>
        </p:spPr>
      </p:sp>
      <p:sp>
        <p:nvSpPr>
          <p:cNvPr id="14" name="Text 12"/>
          <p:cNvSpPr/>
          <p:nvPr/>
        </p:nvSpPr>
        <p:spPr>
          <a:xfrm>
            <a:off x="8246467"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범위 밖</a:t>
            </a:r>
            <a:endParaRPr lang="en-US" sz="1700" dirty="0"/>
          </a:p>
        </p:txBody>
      </p:sp>
      <p:sp>
        <p:nvSpPr>
          <p:cNvPr id="15" name="Text 13"/>
          <p:cNvSpPr/>
          <p:nvPr/>
        </p:nvSpPr>
        <p:spPr>
          <a:xfrm>
            <a:off x="8318349" y="2598341"/>
            <a:ext cx="2885491" cy="1163241"/>
          </a:xfrm>
          <a:prstGeom prst="rect">
            <a:avLst/>
          </a:prstGeom>
          <a:noFill/>
          <a:ln/>
        </p:spPr>
        <p:txBody>
          <a:bodyPr wrap="square" lIns="0" tIns="0" rIns="0" bIns="0" rtlCol="0" anchor="t">
            <a:normAutofit/>
          </a:bodyPr>
          <a:lstStyle/>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스캔 pdf (OCR)</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이미지 내용 비교</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글꼴 · 서식 변경 감지</a:t>
            </a:r>
            <a:endParaRPr lang="en-US" sz="1400" dirty="0"/>
          </a:p>
          <a:p>
            <a:pPr algn="l" marL="182118" indent="-182118">
              <a:lnSpc>
                <a:spcPts val="2240"/>
              </a:lnSpc>
              <a:buSzPct val="100000"/>
              <a:buChar char="•"/>
            </a:pPr>
            <a:r>
              <a:rPr lang="en-US" sz="1400" dirty="0">
                <a:solidFill>
                  <a:srgbClr val="4A5568"/>
                </a:solidFill>
                <a:latin typeface="IBM Plex Sans KR" pitchFamily="34" charset="0"/>
                <a:ea typeface="IBM Plex Sans KR" pitchFamily="34" charset="-122"/>
                <a:cs typeface="IBM Plex Sans KR" pitchFamily="34" charset="-120"/>
              </a:rPr>
              <a:t>모델 직접 학습</a:t>
            </a:r>
            <a:endParaRPr lang="en-US" sz="1400" dirty="0"/>
          </a:p>
        </p:txBody>
      </p:sp>
      <p:sp>
        <p:nvSpPr>
          <p:cNvPr id="16" name="Shape 14"/>
          <p:cNvSpPr/>
          <p:nvPr/>
        </p:nvSpPr>
        <p:spPr>
          <a:xfrm>
            <a:off x="812800" y="4301331"/>
            <a:ext cx="10566400" cy="0"/>
          </a:xfrm>
          <a:prstGeom prst="line">
            <a:avLst/>
          </a:prstGeom>
          <a:noFill/>
          <a:ln w="12700">
            <a:solidFill>
              <a:srgbClr val="D9D6CC"/>
            </a:solidFill>
            <a:prstDash val="solid"/>
          </a:ln>
        </p:spPr>
      </p:sp>
      <p:sp>
        <p:nvSpPr>
          <p:cNvPr id="17" name="Text 15"/>
          <p:cNvSpPr/>
          <p:nvPr/>
        </p:nvSpPr>
        <p:spPr>
          <a:xfrm>
            <a:off x="812800" y="4494312"/>
            <a:ext cx="7536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4D1A"/>
                </a:solidFill>
                <a:latin typeface="IBM Plex Sans KR" pitchFamily="34" charset="0"/>
                <a:ea typeface="IBM Plex Sans KR" pitchFamily="34" charset="-122"/>
                <a:cs typeface="IBM Plex Sans KR" pitchFamily="34" charset="-120"/>
              </a:rPr>
              <a:t>사용 형태</a:t>
            </a:r>
            <a:endParaRPr lang="en-US" sz="1300" dirty="0"/>
          </a:p>
        </p:txBody>
      </p:sp>
      <p:sp>
        <p:nvSpPr>
          <p:cNvPr id="18" name="Text 16"/>
          <p:cNvSpPr/>
          <p:nvPr/>
        </p:nvSpPr>
        <p:spPr>
          <a:xfrm>
            <a:off x="1567855" y="4485481"/>
            <a:ext cx="683906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명령어 한 줄로 실행 → HTML 리포트 생성 → 이후 웹 화면(끌어다 놓기)으로 확장</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적용할 AI 기술</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생성형 AI(LLM) + 자연어 처리</a:t>
            </a:r>
            <a:endParaRPr lang="en-US" sz="3200" dirty="0"/>
          </a:p>
        </p:txBody>
      </p:sp>
      <p:sp>
        <p:nvSpPr>
          <p:cNvPr id="4" name="Shape 2"/>
          <p:cNvSpPr/>
          <p:nvPr/>
        </p:nvSpPr>
        <p:spPr>
          <a:xfrm>
            <a:off x="812800" y="1920180"/>
            <a:ext cx="10566400" cy="635000"/>
          </a:xfrm>
          <a:prstGeom prst="roundRect">
            <a:avLst>
              <a:gd name="adj" fmla="val 16000"/>
            </a:avLst>
          </a:prstGeom>
          <a:solidFill>
            <a:srgbClr val="ECEAE3"/>
          </a:solidFill>
          <a:ln/>
        </p:spPr>
      </p:sp>
      <p:pic>
        <p:nvPicPr>
          <p:cNvPr id="5" name="Image 0" descr="Settings">    </p:cNvPr>
          <p:cNvPicPr>
            <a:picLocks noChangeAspect="1"/>
          </p:cNvPicPr>
          <p:nvPr/>
        </p:nvPicPr>
        <p:blipFill>
          <a:blip r:embed="rId1"/>
          <a:srcRect l="0" r="0" t="0" b="0"/>
          <a:stretch/>
        </p:blipFill>
        <p:spPr>
          <a:xfrm>
            <a:off x="1066800" y="2097980"/>
            <a:ext cx="279400" cy="279400"/>
          </a:xfrm>
          <a:prstGeom prst="rect">
            <a:avLst/>
          </a:prstGeom>
        </p:spPr>
      </p:pic>
      <p:sp>
        <p:nvSpPr>
          <p:cNvPr id="6" name="Text 3"/>
          <p:cNvSpPr/>
          <p:nvPr/>
        </p:nvSpPr>
        <p:spPr>
          <a:xfrm>
            <a:off x="1498600" y="2104330"/>
            <a:ext cx="679227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433"/>
                </a:solidFill>
                <a:latin typeface="IBM Plex Sans KR" pitchFamily="34" charset="0"/>
                <a:ea typeface="IBM Plex Sans KR" pitchFamily="34" charset="-122"/>
                <a:cs typeface="IBM Plex Sans KR" pitchFamily="34" charset="-120"/>
              </a:rPr>
              <a:t>모델을 직접 학습시키지 않음</a:t>
            </a:r>
            <a:r>
              <a:rPr lang="en-US" sz="1500" dirty="0">
                <a:solidFill>
                  <a:srgbClr val="1B2433"/>
                </a:solidFill>
                <a:latin typeface="IBM Plex Sans KR" pitchFamily="34" charset="0"/>
                <a:ea typeface="IBM Plex Sans KR" pitchFamily="34" charset="-122"/>
                <a:cs typeface="IBM Plex Sans KR" pitchFamily="34" charset="-120"/>
              </a:rPr>
              <a:t> · 이미 학습된 LLM을 설계로 신뢰성 있게 활용</a:t>
            </a:r>
            <a:endParaRPr lang="en-US" sz="1500" dirty="0"/>
          </a:p>
        </p:txBody>
      </p:sp>
      <p:sp>
        <p:nvSpPr>
          <p:cNvPr id="7" name="Shape 4"/>
          <p:cNvSpPr/>
          <p:nvPr/>
        </p:nvSpPr>
        <p:spPr>
          <a:xfrm>
            <a:off x="815975" y="2863155"/>
            <a:ext cx="3380284" cy="2024360"/>
          </a:xfrm>
          <a:prstGeom prst="roundRect">
            <a:avLst>
              <a:gd name="adj" fmla="val 6117"/>
            </a:avLst>
          </a:prstGeom>
          <a:solidFill>
            <a:srgbClr val="FDFCF9"/>
          </a:solidFill>
          <a:ln w="6350">
            <a:solidFill>
              <a:srgbClr val="D9D6CC"/>
            </a:solidFill>
            <a:prstDash val="solid"/>
          </a:ln>
        </p:spPr>
      </p:sp>
      <p:pic>
        <p:nvPicPr>
          <p:cNvPr id="8" name="Image 1" descr="Database">    </p:cNvPr>
          <p:cNvPicPr>
            <a:picLocks noChangeAspect="1"/>
          </p:cNvPicPr>
          <p:nvPr/>
        </p:nvPicPr>
        <p:blipFill>
          <a:blip r:embed="rId2"/>
          <a:srcRect l="0" r="0" t="0" b="0"/>
          <a:stretch/>
        </p:blipFill>
        <p:spPr>
          <a:xfrm>
            <a:off x="1073150" y="3120330"/>
            <a:ext cx="304800" cy="304800"/>
          </a:xfrm>
          <a:prstGeom prst="rect">
            <a:avLst/>
          </a:prstGeom>
        </p:spPr>
      </p:pic>
      <p:sp>
        <p:nvSpPr>
          <p:cNvPr id="9" name="Text 5"/>
          <p:cNvSpPr/>
          <p:nvPr/>
        </p:nvSpPr>
        <p:spPr>
          <a:xfrm>
            <a:off x="1073150" y="352673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구조화 출력</a:t>
            </a:r>
            <a:endParaRPr lang="en-US" sz="1700" dirty="0"/>
          </a:p>
        </p:txBody>
      </p:sp>
      <p:sp>
        <p:nvSpPr>
          <p:cNvPr id="10" name="Text 6"/>
          <p:cNvSpPr/>
          <p:nvPr/>
        </p:nvSpPr>
        <p:spPr>
          <a:xfrm>
            <a:off x="1073150" y="3887391"/>
            <a:ext cx="295191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자유 문장이 아닌</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정해진 JSON 형식으로만 답하게 하고</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형식이 틀리면 자동 재요청</a:t>
            </a:r>
            <a:endParaRPr lang="en-US" sz="1300" dirty="0"/>
          </a:p>
        </p:txBody>
      </p:sp>
      <p:sp>
        <p:nvSpPr>
          <p:cNvPr id="11" name="Shape 7"/>
          <p:cNvSpPr/>
          <p:nvPr/>
        </p:nvSpPr>
        <p:spPr>
          <a:xfrm>
            <a:off x="4405809" y="2863155"/>
            <a:ext cx="3380284" cy="2024360"/>
          </a:xfrm>
          <a:prstGeom prst="roundRect">
            <a:avLst>
              <a:gd name="adj" fmla="val 6117"/>
            </a:avLst>
          </a:prstGeom>
          <a:solidFill>
            <a:srgbClr val="FDFCF9"/>
          </a:solidFill>
          <a:ln w="6350">
            <a:solidFill>
              <a:srgbClr val="D9D6CC"/>
            </a:solidFill>
            <a:prstDash val="solid"/>
          </a:ln>
        </p:spPr>
      </p:sp>
      <p:pic>
        <p:nvPicPr>
          <p:cNvPr id="12" name="Image 2" descr="Chart">    </p:cNvPr>
          <p:cNvPicPr>
            <a:picLocks noChangeAspect="1"/>
          </p:cNvPicPr>
          <p:nvPr/>
        </p:nvPicPr>
        <p:blipFill>
          <a:blip r:embed="rId3"/>
          <a:srcRect l="0" r="0" t="0" b="0"/>
          <a:stretch/>
        </p:blipFill>
        <p:spPr>
          <a:xfrm>
            <a:off x="4662984" y="3120330"/>
            <a:ext cx="304800" cy="304800"/>
          </a:xfrm>
          <a:prstGeom prst="rect">
            <a:avLst/>
          </a:prstGeom>
        </p:spPr>
      </p:pic>
      <p:sp>
        <p:nvSpPr>
          <p:cNvPr id="13" name="Text 8"/>
          <p:cNvSpPr/>
          <p:nvPr/>
        </p:nvSpPr>
        <p:spPr>
          <a:xfrm>
            <a:off x="4662984" y="352673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계층적 요약</a:t>
            </a:r>
            <a:endParaRPr lang="en-US" sz="1700" dirty="0"/>
          </a:p>
        </p:txBody>
      </p:sp>
      <p:sp>
        <p:nvSpPr>
          <p:cNvPr id="14" name="Text 9"/>
          <p:cNvSpPr/>
          <p:nvPr/>
        </p:nvSpPr>
        <p:spPr>
          <a:xfrm>
            <a:off x="4662984" y="3887391"/>
            <a:ext cx="29519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파일 → 폴더 → 전체 순서로 요약해</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입력 길이 한계를 넘는 대규모 변경도 처리</a:t>
            </a:r>
            <a:endParaRPr lang="en-US" sz="1300" dirty="0"/>
          </a:p>
        </p:txBody>
      </p:sp>
      <p:sp>
        <p:nvSpPr>
          <p:cNvPr id="15" name="Shape 10"/>
          <p:cNvSpPr/>
          <p:nvPr/>
        </p:nvSpPr>
        <p:spPr>
          <a:xfrm>
            <a:off x="7995642" y="2863155"/>
            <a:ext cx="3380284" cy="2024360"/>
          </a:xfrm>
          <a:prstGeom prst="roundRect">
            <a:avLst>
              <a:gd name="adj" fmla="val 6117"/>
            </a:avLst>
          </a:prstGeom>
          <a:solidFill>
            <a:srgbClr val="FDFCF9"/>
          </a:solidFill>
          <a:ln w="6350">
            <a:solidFill>
              <a:srgbClr val="D9D6CC"/>
            </a:solidFill>
            <a:prstDash val="solid"/>
          </a:ln>
        </p:spPr>
      </p:sp>
      <p:pic>
        <p:nvPicPr>
          <p:cNvPr id="16" name="Image 3" descr="Link">    </p:cNvPr>
          <p:cNvPicPr>
            <a:picLocks noChangeAspect="1"/>
          </p:cNvPicPr>
          <p:nvPr/>
        </p:nvPicPr>
        <p:blipFill>
          <a:blip r:embed="rId4"/>
          <a:srcRect l="0" r="0" t="0" b="0"/>
          <a:stretch/>
        </p:blipFill>
        <p:spPr>
          <a:xfrm>
            <a:off x="8252817" y="3120330"/>
            <a:ext cx="304800" cy="304800"/>
          </a:xfrm>
          <a:prstGeom prst="rect">
            <a:avLst/>
          </a:prstGeom>
        </p:spPr>
      </p:pic>
      <p:sp>
        <p:nvSpPr>
          <p:cNvPr id="17" name="Text 11"/>
          <p:cNvSpPr/>
          <p:nvPr/>
        </p:nvSpPr>
        <p:spPr>
          <a:xfrm>
            <a:off x="8252817" y="3526730"/>
            <a:ext cx="295191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근거 지정 프롬프트</a:t>
            </a:r>
            <a:endParaRPr lang="en-US" sz="1700" dirty="0"/>
          </a:p>
        </p:txBody>
      </p:sp>
      <p:sp>
        <p:nvSpPr>
          <p:cNvPr id="18" name="Text 12"/>
          <p:cNvSpPr/>
          <p:nvPr/>
        </p:nvSpPr>
        <p:spPr>
          <a:xfrm>
            <a:off x="8252817" y="3887391"/>
            <a:ext cx="29519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문장에 근거 diff 조각 번호를 달게 하고</a:t>
            </a:r>
            <a:endParaRPr lang="en-US" sz="1300" dirty="0"/>
          </a:p>
          <a:p>
            <a:pPr algn="l" indent="0" marL="0">
              <a:lnSpc>
                <a:spcPts val="1950"/>
              </a:lnSpc>
              <a:buNone/>
            </a:pPr>
            <a:r>
              <a:rPr lang="en-US" sz="1300" dirty="0">
                <a:solidFill>
                  <a:srgbClr val="4A5568"/>
                </a:solidFill>
                <a:latin typeface="IBM Plex Sans KR" pitchFamily="34" charset="0"/>
                <a:ea typeface="IBM Plex Sans KR" pitchFamily="34" charset="-122"/>
                <a:cs typeface="IBM Plex Sans KR" pitchFamily="34" charset="-120"/>
              </a:rPr>
              <a:t>숫자는 쓰지 않도록 지시</a:t>
            </a:r>
            <a:endParaRPr lang="en-US" sz="1300" dirty="0"/>
          </a:p>
        </p:txBody>
      </p:sp>
      <p:sp>
        <p:nvSpPr>
          <p:cNvPr id="19"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모델 구조 및 데이터 흐름</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6단계 처리 흐름</a:t>
            </a:r>
            <a:endParaRPr lang="en-US" sz="3200" dirty="0"/>
          </a:p>
        </p:txBody>
      </p:sp>
      <p:sp>
        <p:nvSpPr>
          <p:cNvPr id="4" name="Shape 2"/>
          <p:cNvSpPr/>
          <p:nvPr/>
        </p:nvSpPr>
        <p:spPr>
          <a:xfrm>
            <a:off x="815975" y="1974155"/>
            <a:ext cx="1521817" cy="1407716"/>
          </a:xfrm>
          <a:prstGeom prst="roundRect">
            <a:avLst>
              <a:gd name="adj" fmla="val 5187"/>
            </a:avLst>
          </a:prstGeom>
          <a:solidFill>
            <a:srgbClr val="FDFCF9"/>
          </a:solidFill>
          <a:ln w="6350">
            <a:solidFill>
              <a:srgbClr val="D9D6CC"/>
            </a:solidFill>
            <a:prstDash val="solid"/>
          </a:ln>
        </p:spPr>
      </p:sp>
      <p:sp>
        <p:nvSpPr>
          <p:cNvPr id="5" name="Text 3"/>
          <p:cNvSpPr/>
          <p:nvPr/>
        </p:nvSpPr>
        <p:spPr>
          <a:xfrm>
            <a:off x="958850" y="2155130"/>
            <a:ext cx="12868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1</a:t>
            </a:r>
            <a:endParaRPr lang="en-US" sz="1200" dirty="0"/>
          </a:p>
        </p:txBody>
      </p:sp>
      <p:sp>
        <p:nvSpPr>
          <p:cNvPr id="6" name="Text 4"/>
          <p:cNvSpPr/>
          <p:nvPr/>
        </p:nvSpPr>
        <p:spPr>
          <a:xfrm>
            <a:off x="958850" y="2444651"/>
            <a:ext cx="128686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입력</a:t>
            </a:r>
            <a:endParaRPr lang="en-US" sz="1500" dirty="0"/>
          </a:p>
        </p:txBody>
      </p:sp>
      <p:sp>
        <p:nvSpPr>
          <p:cNvPr id="7" name="Text 5"/>
          <p:cNvSpPr/>
          <p:nvPr/>
        </p:nvSpPr>
        <p:spPr>
          <a:xfrm>
            <a:off x="958850" y="2758976"/>
            <a:ext cx="128686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폴더 · zip 두 개</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(이전 / 이후)</a:t>
            </a:r>
            <a:endParaRPr lang="en-US" sz="1200" dirty="0"/>
          </a:p>
        </p:txBody>
      </p:sp>
      <p:pic>
        <p:nvPicPr>
          <p:cNvPr id="8" name="Image 0" descr="connector">    </p:cNvPr>
          <p:cNvPicPr>
            <a:picLocks noChangeAspect="1"/>
          </p:cNvPicPr>
          <p:nvPr/>
        </p:nvPicPr>
        <p:blipFill>
          <a:blip r:embed="rId1"/>
          <a:srcRect l="0" r="0" t="0" b="0"/>
          <a:stretch/>
        </p:blipFill>
        <p:spPr>
          <a:xfrm>
            <a:off x="2302867" y="2627213"/>
            <a:ext cx="355600" cy="101600"/>
          </a:xfrm>
          <a:prstGeom prst="rect">
            <a:avLst/>
          </a:prstGeom>
        </p:spPr>
      </p:pic>
      <p:sp>
        <p:nvSpPr>
          <p:cNvPr id="9" name="Shape 6"/>
          <p:cNvSpPr/>
          <p:nvPr/>
        </p:nvSpPr>
        <p:spPr>
          <a:xfrm>
            <a:off x="2623542" y="1974155"/>
            <a:ext cx="1521916" cy="1407716"/>
          </a:xfrm>
          <a:prstGeom prst="roundRect">
            <a:avLst>
              <a:gd name="adj" fmla="val 5187"/>
            </a:avLst>
          </a:prstGeom>
          <a:solidFill>
            <a:srgbClr val="FDFCF9"/>
          </a:solidFill>
          <a:ln w="6350">
            <a:solidFill>
              <a:srgbClr val="D9D6CC"/>
            </a:solidFill>
            <a:prstDash val="solid"/>
          </a:ln>
        </p:spPr>
      </p:sp>
      <p:sp>
        <p:nvSpPr>
          <p:cNvPr id="10" name="Text 7"/>
          <p:cNvSpPr/>
          <p:nvPr/>
        </p:nvSpPr>
        <p:spPr>
          <a:xfrm>
            <a:off x="2766417" y="2155130"/>
            <a:ext cx="12869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2</a:t>
            </a:r>
            <a:endParaRPr lang="en-US" sz="1200" dirty="0"/>
          </a:p>
        </p:txBody>
      </p:sp>
      <p:sp>
        <p:nvSpPr>
          <p:cNvPr id="11" name="Text 8"/>
          <p:cNvSpPr/>
          <p:nvPr/>
        </p:nvSpPr>
        <p:spPr>
          <a:xfrm>
            <a:off x="2766417" y="2444651"/>
            <a:ext cx="12869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노이즈 제거</a:t>
            </a:r>
            <a:endParaRPr lang="en-US" sz="1500" dirty="0"/>
          </a:p>
        </p:txBody>
      </p:sp>
      <p:sp>
        <p:nvSpPr>
          <p:cNvPr id="12" name="Text 9"/>
          <p:cNvSpPr/>
          <p:nvPr/>
        </p:nvSpPr>
        <p:spPr>
          <a:xfrm>
            <a:off x="2766417" y="2758976"/>
            <a:ext cx="128696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캐시 · 빌드 · 비밀</a:t>
            </a:r>
            <a:endParaRPr lang="en-US" sz="1200" dirty="0"/>
          </a:p>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파일 제외</a:t>
            </a:r>
            <a:endParaRPr lang="en-US" sz="1200" dirty="0"/>
          </a:p>
        </p:txBody>
      </p:sp>
      <p:pic>
        <p:nvPicPr>
          <p:cNvPr id="13" name="Image 1" descr="connector">    </p:cNvPr>
          <p:cNvPicPr>
            <a:picLocks noChangeAspect="1"/>
          </p:cNvPicPr>
          <p:nvPr/>
        </p:nvPicPr>
        <p:blipFill>
          <a:blip r:embed="rId2"/>
          <a:srcRect l="0" r="0" t="0" b="0"/>
          <a:stretch/>
        </p:blipFill>
        <p:spPr>
          <a:xfrm>
            <a:off x="4110534" y="2627213"/>
            <a:ext cx="355600" cy="101600"/>
          </a:xfrm>
          <a:prstGeom prst="rect">
            <a:avLst/>
          </a:prstGeom>
        </p:spPr>
      </p:pic>
      <p:sp>
        <p:nvSpPr>
          <p:cNvPr id="14" name="Shape 10"/>
          <p:cNvSpPr/>
          <p:nvPr/>
        </p:nvSpPr>
        <p:spPr>
          <a:xfrm>
            <a:off x="4431209" y="1974155"/>
            <a:ext cx="1521817" cy="1407716"/>
          </a:xfrm>
          <a:prstGeom prst="roundRect">
            <a:avLst>
              <a:gd name="adj" fmla="val 5187"/>
            </a:avLst>
          </a:prstGeom>
          <a:solidFill>
            <a:srgbClr val="FDFCF9"/>
          </a:solidFill>
          <a:ln w="6350">
            <a:solidFill>
              <a:srgbClr val="D9D6CC"/>
            </a:solidFill>
            <a:prstDash val="solid"/>
          </a:ln>
        </p:spPr>
      </p:sp>
      <p:sp>
        <p:nvSpPr>
          <p:cNvPr id="15" name="Text 11"/>
          <p:cNvSpPr/>
          <p:nvPr/>
        </p:nvSpPr>
        <p:spPr>
          <a:xfrm>
            <a:off x="4574084" y="2155130"/>
            <a:ext cx="12868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3</a:t>
            </a:r>
            <a:endParaRPr lang="en-US" sz="1200" dirty="0"/>
          </a:p>
        </p:txBody>
      </p:sp>
      <p:sp>
        <p:nvSpPr>
          <p:cNvPr id="16" name="Text 12"/>
          <p:cNvSpPr/>
          <p:nvPr/>
        </p:nvSpPr>
        <p:spPr>
          <a:xfrm>
            <a:off x="4574084" y="2444651"/>
            <a:ext cx="128686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비교 엔진</a:t>
            </a:r>
            <a:endParaRPr lang="en-US" sz="1500" dirty="0"/>
          </a:p>
        </p:txBody>
      </p:sp>
      <p:sp>
        <p:nvSpPr>
          <p:cNvPr id="17" name="Text 13"/>
          <p:cNvSpPr/>
          <p:nvPr/>
        </p:nvSpPr>
        <p:spPr>
          <a:xfrm>
            <a:off x="4574084" y="2758976"/>
            <a:ext cx="128686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추가 · 삭제 · 수정·이동 분류, diff 통계</a:t>
            </a:r>
            <a:endParaRPr lang="en-US" sz="1200" dirty="0"/>
          </a:p>
        </p:txBody>
      </p:sp>
      <p:pic>
        <p:nvPicPr>
          <p:cNvPr id="18" name="Image 2" descr="connector">    </p:cNvPr>
          <p:cNvPicPr>
            <a:picLocks noChangeAspect="1"/>
          </p:cNvPicPr>
          <p:nvPr/>
        </p:nvPicPr>
        <p:blipFill>
          <a:blip r:embed="rId3"/>
          <a:srcRect l="0" r="0" t="0" b="0"/>
          <a:stretch/>
        </p:blipFill>
        <p:spPr>
          <a:xfrm>
            <a:off x="5918101" y="2627213"/>
            <a:ext cx="355600" cy="101600"/>
          </a:xfrm>
          <a:prstGeom prst="rect">
            <a:avLst/>
          </a:prstGeom>
        </p:spPr>
      </p:pic>
      <p:sp>
        <p:nvSpPr>
          <p:cNvPr id="19" name="Shape 14"/>
          <p:cNvSpPr/>
          <p:nvPr/>
        </p:nvSpPr>
        <p:spPr>
          <a:xfrm>
            <a:off x="6238776" y="1974155"/>
            <a:ext cx="1521916" cy="1407716"/>
          </a:xfrm>
          <a:prstGeom prst="roundRect">
            <a:avLst>
              <a:gd name="adj" fmla="val 5187"/>
            </a:avLst>
          </a:prstGeom>
          <a:solidFill>
            <a:srgbClr val="FBEFE6"/>
          </a:solidFill>
          <a:ln w="6350">
            <a:solidFill>
              <a:srgbClr val="E8C9B3"/>
            </a:solidFill>
            <a:prstDash val="solid"/>
          </a:ln>
        </p:spPr>
      </p:sp>
      <p:sp>
        <p:nvSpPr>
          <p:cNvPr id="20" name="Text 15"/>
          <p:cNvSpPr/>
          <p:nvPr/>
        </p:nvSpPr>
        <p:spPr>
          <a:xfrm>
            <a:off x="6381651" y="2155130"/>
            <a:ext cx="12869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D1A"/>
                </a:solidFill>
                <a:latin typeface="IBM Plex Sans KR" pitchFamily="34" charset="0"/>
                <a:ea typeface="IBM Plex Sans KR" pitchFamily="34" charset="-122"/>
                <a:cs typeface="IBM Plex Sans KR" pitchFamily="34" charset="-120"/>
              </a:rPr>
              <a:t>4</a:t>
            </a:r>
            <a:endParaRPr lang="en-US" sz="1200" dirty="0"/>
          </a:p>
        </p:txBody>
      </p:sp>
      <p:sp>
        <p:nvSpPr>
          <p:cNvPr id="21" name="Text 16"/>
          <p:cNvSpPr/>
          <p:nvPr/>
        </p:nvSpPr>
        <p:spPr>
          <a:xfrm>
            <a:off x="6381651" y="2444651"/>
            <a:ext cx="12869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AI 요약</a:t>
            </a:r>
            <a:endParaRPr lang="en-US" sz="1500" dirty="0"/>
          </a:p>
        </p:txBody>
      </p:sp>
      <p:sp>
        <p:nvSpPr>
          <p:cNvPr id="22" name="Text 17"/>
          <p:cNvSpPr/>
          <p:nvPr/>
        </p:nvSpPr>
        <p:spPr>
          <a:xfrm>
            <a:off x="6381651" y="2758976"/>
            <a:ext cx="128696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파일→폴더→전체, 문장마다 근거</a:t>
            </a:r>
            <a:endParaRPr lang="en-US" sz="1200" dirty="0"/>
          </a:p>
        </p:txBody>
      </p:sp>
      <p:pic>
        <p:nvPicPr>
          <p:cNvPr id="23" name="Image 3" descr="connector">    </p:cNvPr>
          <p:cNvPicPr>
            <a:picLocks noChangeAspect="1"/>
          </p:cNvPicPr>
          <p:nvPr/>
        </p:nvPicPr>
        <p:blipFill>
          <a:blip r:embed="rId4"/>
          <a:srcRect l="0" r="0" t="0" b="0"/>
          <a:stretch/>
        </p:blipFill>
        <p:spPr>
          <a:xfrm>
            <a:off x="7725767" y="2627213"/>
            <a:ext cx="355600" cy="101600"/>
          </a:xfrm>
          <a:prstGeom prst="rect">
            <a:avLst/>
          </a:prstGeom>
        </p:spPr>
      </p:pic>
      <p:sp>
        <p:nvSpPr>
          <p:cNvPr id="24" name="Shape 18"/>
          <p:cNvSpPr/>
          <p:nvPr/>
        </p:nvSpPr>
        <p:spPr>
          <a:xfrm>
            <a:off x="8046442" y="1974155"/>
            <a:ext cx="1521916" cy="1407716"/>
          </a:xfrm>
          <a:prstGeom prst="roundRect">
            <a:avLst>
              <a:gd name="adj" fmla="val 5187"/>
            </a:avLst>
          </a:prstGeom>
          <a:solidFill>
            <a:srgbClr val="FDFCF9"/>
          </a:solidFill>
          <a:ln w="6350">
            <a:solidFill>
              <a:srgbClr val="D9D6CC"/>
            </a:solidFill>
            <a:prstDash val="solid"/>
          </a:ln>
        </p:spPr>
      </p:sp>
      <p:sp>
        <p:nvSpPr>
          <p:cNvPr id="25" name="Text 19"/>
          <p:cNvSpPr/>
          <p:nvPr/>
        </p:nvSpPr>
        <p:spPr>
          <a:xfrm>
            <a:off x="8189317" y="2155130"/>
            <a:ext cx="12869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5</a:t>
            </a:r>
            <a:endParaRPr lang="en-US" sz="1200" dirty="0"/>
          </a:p>
        </p:txBody>
      </p:sp>
      <p:sp>
        <p:nvSpPr>
          <p:cNvPr id="26" name="Text 20"/>
          <p:cNvSpPr/>
          <p:nvPr/>
        </p:nvSpPr>
        <p:spPr>
          <a:xfrm>
            <a:off x="8189317" y="2444651"/>
            <a:ext cx="12869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근거 검증</a:t>
            </a:r>
            <a:endParaRPr lang="en-US" sz="1500" dirty="0"/>
          </a:p>
        </p:txBody>
      </p:sp>
      <p:sp>
        <p:nvSpPr>
          <p:cNvPr id="27" name="Text 21"/>
          <p:cNvSpPr/>
          <p:nvPr/>
        </p:nvSpPr>
        <p:spPr>
          <a:xfrm>
            <a:off x="8189317" y="2758976"/>
            <a:ext cx="128696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근거 · 식별자 · 숫자 자동 대조</a:t>
            </a:r>
            <a:endParaRPr lang="en-US" sz="1200" dirty="0"/>
          </a:p>
        </p:txBody>
      </p:sp>
      <p:pic>
        <p:nvPicPr>
          <p:cNvPr id="28" name="Image 4" descr="connector">    </p:cNvPr>
          <p:cNvPicPr>
            <a:picLocks noChangeAspect="1"/>
          </p:cNvPicPr>
          <p:nvPr/>
        </p:nvPicPr>
        <p:blipFill>
          <a:blip r:embed="rId5"/>
          <a:srcRect l="0" r="0" t="0" b="0"/>
          <a:stretch/>
        </p:blipFill>
        <p:spPr>
          <a:xfrm>
            <a:off x="9533434" y="2627213"/>
            <a:ext cx="355600" cy="101600"/>
          </a:xfrm>
          <a:prstGeom prst="rect">
            <a:avLst/>
          </a:prstGeom>
        </p:spPr>
      </p:pic>
      <p:sp>
        <p:nvSpPr>
          <p:cNvPr id="29" name="Shape 22"/>
          <p:cNvSpPr/>
          <p:nvPr/>
        </p:nvSpPr>
        <p:spPr>
          <a:xfrm>
            <a:off x="9854109" y="1974155"/>
            <a:ext cx="1521916" cy="1407716"/>
          </a:xfrm>
          <a:prstGeom prst="roundRect">
            <a:avLst>
              <a:gd name="adj" fmla="val 5187"/>
            </a:avLst>
          </a:prstGeom>
          <a:solidFill>
            <a:srgbClr val="FDFCF9"/>
          </a:solidFill>
          <a:ln w="6350">
            <a:solidFill>
              <a:srgbClr val="D9D6CC"/>
            </a:solidFill>
            <a:prstDash val="solid"/>
          </a:ln>
        </p:spPr>
      </p:sp>
      <p:sp>
        <p:nvSpPr>
          <p:cNvPr id="30" name="Text 23"/>
          <p:cNvSpPr/>
          <p:nvPr/>
        </p:nvSpPr>
        <p:spPr>
          <a:xfrm>
            <a:off x="9996984" y="2155130"/>
            <a:ext cx="12869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6</a:t>
            </a:r>
            <a:endParaRPr lang="en-US" sz="1200" dirty="0"/>
          </a:p>
        </p:txBody>
      </p:sp>
      <p:sp>
        <p:nvSpPr>
          <p:cNvPr id="31" name="Text 24"/>
          <p:cNvSpPr/>
          <p:nvPr/>
        </p:nvSpPr>
        <p:spPr>
          <a:xfrm>
            <a:off x="9996984" y="2444651"/>
            <a:ext cx="1286966"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B2433"/>
                </a:solidFill>
                <a:latin typeface="IBM Plex Sans KR" pitchFamily="34" charset="0"/>
                <a:ea typeface="IBM Plex Sans KR" pitchFamily="34" charset="-122"/>
                <a:cs typeface="IBM Plex Sans KR" pitchFamily="34" charset="-120"/>
              </a:rPr>
              <a:t>리포트</a:t>
            </a:r>
            <a:endParaRPr lang="en-US" sz="1500" dirty="0"/>
          </a:p>
        </p:txBody>
      </p:sp>
      <p:sp>
        <p:nvSpPr>
          <p:cNvPr id="32" name="Text 25"/>
          <p:cNvSpPr/>
          <p:nvPr/>
        </p:nvSpPr>
        <p:spPr>
          <a:xfrm>
            <a:off x="9996984" y="2758976"/>
            <a:ext cx="1286966"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BM Plex Sans KR" pitchFamily="34" charset="0"/>
                <a:ea typeface="IBM Plex Sans KR" pitchFamily="34" charset="-122"/>
                <a:cs typeface="IBM Plex Sans KR" pitchFamily="34" charset="-120"/>
              </a:rPr>
              <a:t>개발자용 / 비개발자 전용 HTML</a:t>
            </a:r>
            <a:endParaRPr lang="en-US" sz="1200" dirty="0"/>
          </a:p>
        </p:txBody>
      </p:sp>
      <p:sp>
        <p:nvSpPr>
          <p:cNvPr id="33" name="Shape 26"/>
          <p:cNvSpPr/>
          <p:nvPr/>
        </p:nvSpPr>
        <p:spPr>
          <a:xfrm>
            <a:off x="812800" y="3805337"/>
            <a:ext cx="254000" cy="101600"/>
          </a:xfrm>
          <a:prstGeom prst="roundRect">
            <a:avLst>
              <a:gd name="adj" fmla="val 25000"/>
            </a:avLst>
          </a:prstGeom>
          <a:solidFill>
            <a:srgbClr val="2F5FB3"/>
          </a:solidFill>
          <a:ln/>
        </p:spPr>
      </p:sp>
      <p:sp>
        <p:nvSpPr>
          <p:cNvPr id="34" name="Text 27"/>
          <p:cNvSpPr/>
          <p:nvPr/>
        </p:nvSpPr>
        <p:spPr>
          <a:xfrm>
            <a:off x="1168400" y="3740646"/>
            <a:ext cx="285462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규칙 기반 처리 (사실 · 항상 같은 결과)</a:t>
            </a:r>
            <a:endParaRPr lang="en-US" sz="1300" dirty="0"/>
          </a:p>
        </p:txBody>
      </p:sp>
      <p:sp>
        <p:nvSpPr>
          <p:cNvPr id="35" name="Shape 28"/>
          <p:cNvSpPr/>
          <p:nvPr/>
        </p:nvSpPr>
        <p:spPr>
          <a:xfrm>
            <a:off x="4023023" y="3805337"/>
            <a:ext cx="254000" cy="101600"/>
          </a:xfrm>
          <a:prstGeom prst="roundRect">
            <a:avLst>
              <a:gd name="adj" fmla="val 25000"/>
            </a:avLst>
          </a:prstGeom>
          <a:solidFill>
            <a:srgbClr val="B44D1A"/>
          </a:solidFill>
          <a:ln/>
        </p:spPr>
      </p:sp>
      <p:sp>
        <p:nvSpPr>
          <p:cNvPr id="36" name="Text 29"/>
          <p:cNvSpPr/>
          <p:nvPr/>
        </p:nvSpPr>
        <p:spPr>
          <a:xfrm>
            <a:off x="4378623" y="3740646"/>
            <a:ext cx="129254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LLM 처리 (해석)</a:t>
            </a:r>
            <a:endParaRPr lang="en-US" sz="1300" dirty="0"/>
          </a:p>
        </p:txBody>
      </p:sp>
      <p:sp>
        <p:nvSpPr>
          <p:cNvPr id="37" name="Text 30"/>
          <p:cNvSpPr/>
          <p:nvPr/>
        </p:nvSpPr>
        <p:spPr>
          <a:xfrm>
            <a:off x="812800" y="4327327"/>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433"/>
                </a:solidFill>
                <a:latin typeface="IBM Plex Sans KR" pitchFamily="34" charset="0"/>
                <a:ea typeface="IBM Plex Sans KR" pitchFamily="34" charset="-122"/>
                <a:cs typeface="IBM Plex Sans KR" pitchFamily="34" charset="-120"/>
              </a:rPr>
              <a:t>LLM이 관여하는 단계는 </a:t>
            </a:r>
            <a:r>
              <a:rPr lang="en-US" sz="1600" dirty="0">
                <a:solidFill>
                  <a:srgbClr val="B44D1A"/>
                </a:solidFill>
                <a:latin typeface="IBM Plex Sans KR" pitchFamily="34" charset="0"/>
                <a:ea typeface="IBM Plex Sans KR" pitchFamily="34" charset="-122"/>
                <a:cs typeface="IBM Plex Sans KR" pitchFamily="34" charset="-120"/>
              </a:rPr>
              <a:t>4단계 하나뿐</a:t>
            </a:r>
            <a:r>
              <a:rPr lang="en-US" sz="1600" dirty="0">
                <a:solidFill>
                  <a:srgbClr val="1B2433"/>
                </a:solidFill>
                <a:latin typeface="IBM Plex Sans KR" pitchFamily="34" charset="0"/>
                <a:ea typeface="IBM Plex Sans KR" pitchFamily="34" charset="-122"/>
                <a:cs typeface="IBM Plex Sans KR" pitchFamily="34" charset="-120"/>
              </a:rPr>
              <a:t>, 그 결과도 5단계에서 다시 검증</a:t>
            </a:r>
            <a:endParaRPr lang="en-US" sz="1600" dirty="0"/>
          </a:p>
        </p:txBody>
      </p:sp>
      <p:sp>
        <p:nvSpPr>
          <p:cNvPr id="38"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주요 알고리즘</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파일 매칭과 계층 요약</a:t>
            </a:r>
            <a:endParaRPr lang="en-US" sz="3200" dirty="0"/>
          </a:p>
        </p:txBody>
      </p:sp>
      <p:sp>
        <p:nvSpPr>
          <p:cNvPr id="4" name="Text 2"/>
          <p:cNvSpPr/>
          <p:nvPr/>
        </p:nvSpPr>
        <p:spPr>
          <a:xfrm>
            <a:off x="812800" y="1920180"/>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FB3"/>
                </a:solidFill>
                <a:latin typeface="IBM Plex Sans KR" pitchFamily="34" charset="0"/>
                <a:ea typeface="IBM Plex Sans KR" pitchFamily="34" charset="-122"/>
                <a:cs typeface="IBM Plex Sans KR" pitchFamily="34" charset="-120"/>
              </a:rPr>
              <a:t>파일 매칭 (폴더 구조가 바뀌어도)</a:t>
            </a:r>
            <a:endParaRPr lang="en-US" sz="1700" dirty="0"/>
          </a:p>
        </p:txBody>
      </p:sp>
      <p:sp>
        <p:nvSpPr>
          <p:cNvPr id="5" name="Shape 3"/>
          <p:cNvSpPr/>
          <p:nvPr/>
        </p:nvSpPr>
        <p:spPr>
          <a:xfrm>
            <a:off x="815975" y="2309416"/>
            <a:ext cx="5149850" cy="491430"/>
          </a:xfrm>
          <a:prstGeom prst="rect">
            <a:avLst/>
          </a:prstGeom>
          <a:solidFill>
            <a:srgbClr val="FDFCF9"/>
          </a:solidFill>
          <a:ln w="6350">
            <a:solidFill>
              <a:srgbClr val="D9D6CC"/>
            </a:solidFill>
            <a:prstDash val="solid"/>
          </a:ln>
        </p:spPr>
      </p:sp>
      <p:sp>
        <p:nvSpPr>
          <p:cNvPr id="6" name="Text 4"/>
          <p:cNvSpPr/>
          <p:nvPr/>
        </p:nvSpPr>
        <p:spPr>
          <a:xfrm>
            <a:off x="996950" y="2439591"/>
            <a:ext cx="14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B3"/>
                </a:solidFill>
                <a:latin typeface="IBM Plex Sans KR" pitchFamily="34" charset="0"/>
                <a:ea typeface="IBM Plex Sans KR" pitchFamily="34" charset="-122"/>
                <a:cs typeface="IBM Plex Sans KR" pitchFamily="34" charset="-120"/>
              </a:rPr>
              <a:t>1</a:t>
            </a:r>
            <a:endParaRPr lang="en-US" sz="1300" dirty="0"/>
          </a:p>
        </p:txBody>
      </p:sp>
      <p:sp>
        <p:nvSpPr>
          <p:cNvPr id="7" name="Text 5"/>
          <p:cNvSpPr/>
          <p:nvPr/>
        </p:nvSpPr>
        <p:spPr>
          <a:xfrm>
            <a:off x="1223070" y="2439591"/>
            <a:ext cx="16840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같은 경로끼리 짝짓기</a:t>
            </a:r>
            <a:endParaRPr lang="en-US" sz="1300" dirty="0"/>
          </a:p>
        </p:txBody>
      </p:sp>
      <p:sp>
        <p:nvSpPr>
          <p:cNvPr id="8" name="Shape 6"/>
          <p:cNvSpPr/>
          <p:nvPr/>
        </p:nvSpPr>
        <p:spPr>
          <a:xfrm>
            <a:off x="812800" y="2804021"/>
            <a:ext cx="5156200" cy="491430"/>
          </a:xfrm>
          <a:prstGeom prst="rect">
            <a:avLst/>
          </a:prstGeom>
          <a:solidFill>
            <a:srgbClr val="FDFCF9"/>
          </a:solidFill>
          <a:ln/>
        </p:spPr>
      </p:sp>
      <p:sp>
        <p:nvSpPr>
          <p:cNvPr id="9" name="Shape 7"/>
          <p:cNvSpPr/>
          <p:nvPr/>
        </p:nvSpPr>
        <p:spPr>
          <a:xfrm>
            <a:off x="5965825" y="2804021"/>
            <a:ext cx="0" cy="491430"/>
          </a:xfrm>
          <a:prstGeom prst="line">
            <a:avLst/>
          </a:prstGeom>
          <a:noFill/>
          <a:ln w="6350">
            <a:solidFill>
              <a:srgbClr val="D9D6CC"/>
            </a:solidFill>
            <a:prstDash val="solid"/>
          </a:ln>
        </p:spPr>
      </p:sp>
      <p:sp>
        <p:nvSpPr>
          <p:cNvPr id="10" name="Shape 8"/>
          <p:cNvSpPr/>
          <p:nvPr/>
        </p:nvSpPr>
        <p:spPr>
          <a:xfrm>
            <a:off x="812800" y="3292277"/>
            <a:ext cx="5156200" cy="0"/>
          </a:xfrm>
          <a:prstGeom prst="line">
            <a:avLst/>
          </a:prstGeom>
          <a:noFill/>
          <a:ln w="6350">
            <a:solidFill>
              <a:srgbClr val="D9D6CC"/>
            </a:solidFill>
            <a:prstDash val="solid"/>
          </a:ln>
        </p:spPr>
      </p:sp>
      <p:sp>
        <p:nvSpPr>
          <p:cNvPr id="11" name="Shape 9"/>
          <p:cNvSpPr/>
          <p:nvPr/>
        </p:nvSpPr>
        <p:spPr>
          <a:xfrm>
            <a:off x="815975" y="2804021"/>
            <a:ext cx="0" cy="491430"/>
          </a:xfrm>
          <a:prstGeom prst="line">
            <a:avLst/>
          </a:prstGeom>
          <a:noFill/>
          <a:ln w="6350">
            <a:solidFill>
              <a:srgbClr val="D9D6CC"/>
            </a:solidFill>
            <a:prstDash val="solid"/>
          </a:ln>
        </p:spPr>
      </p:sp>
      <p:sp>
        <p:nvSpPr>
          <p:cNvPr id="12" name="Text 10"/>
          <p:cNvSpPr/>
          <p:nvPr/>
        </p:nvSpPr>
        <p:spPr>
          <a:xfrm>
            <a:off x="996950" y="2931021"/>
            <a:ext cx="14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B3"/>
                </a:solidFill>
                <a:latin typeface="IBM Plex Sans KR" pitchFamily="34" charset="0"/>
                <a:ea typeface="IBM Plex Sans KR" pitchFamily="34" charset="-122"/>
                <a:cs typeface="IBM Plex Sans KR" pitchFamily="34" charset="-120"/>
              </a:rPr>
              <a:t>2</a:t>
            </a:r>
            <a:endParaRPr lang="en-US" sz="1300" dirty="0"/>
          </a:p>
        </p:txBody>
      </p:sp>
      <p:sp>
        <p:nvSpPr>
          <p:cNvPr id="13" name="Text 11"/>
          <p:cNvSpPr/>
          <p:nvPr/>
        </p:nvSpPr>
        <p:spPr>
          <a:xfrm>
            <a:off x="1223070" y="2931021"/>
            <a:ext cx="211681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내용 해시가 같으면 → 이동</a:t>
            </a:r>
            <a:endParaRPr lang="en-US" sz="1300" dirty="0"/>
          </a:p>
        </p:txBody>
      </p:sp>
      <p:sp>
        <p:nvSpPr>
          <p:cNvPr id="14" name="Shape 12"/>
          <p:cNvSpPr/>
          <p:nvPr/>
        </p:nvSpPr>
        <p:spPr>
          <a:xfrm>
            <a:off x="812800" y="3295452"/>
            <a:ext cx="5156200" cy="491430"/>
          </a:xfrm>
          <a:prstGeom prst="rect">
            <a:avLst/>
          </a:prstGeom>
          <a:solidFill>
            <a:srgbClr val="FDFCF9"/>
          </a:solidFill>
          <a:ln/>
        </p:spPr>
      </p:sp>
      <p:sp>
        <p:nvSpPr>
          <p:cNvPr id="15" name="Shape 13"/>
          <p:cNvSpPr/>
          <p:nvPr/>
        </p:nvSpPr>
        <p:spPr>
          <a:xfrm>
            <a:off x="5965825" y="3295452"/>
            <a:ext cx="0" cy="491430"/>
          </a:xfrm>
          <a:prstGeom prst="line">
            <a:avLst/>
          </a:prstGeom>
          <a:noFill/>
          <a:ln w="6350">
            <a:solidFill>
              <a:srgbClr val="D9D6CC"/>
            </a:solidFill>
            <a:prstDash val="solid"/>
          </a:ln>
        </p:spPr>
      </p:sp>
      <p:sp>
        <p:nvSpPr>
          <p:cNvPr id="16" name="Shape 14"/>
          <p:cNvSpPr/>
          <p:nvPr/>
        </p:nvSpPr>
        <p:spPr>
          <a:xfrm>
            <a:off x="812800" y="3783707"/>
            <a:ext cx="5156200" cy="0"/>
          </a:xfrm>
          <a:prstGeom prst="line">
            <a:avLst/>
          </a:prstGeom>
          <a:noFill/>
          <a:ln w="6350">
            <a:solidFill>
              <a:srgbClr val="D9D6CC"/>
            </a:solidFill>
            <a:prstDash val="solid"/>
          </a:ln>
        </p:spPr>
      </p:sp>
      <p:sp>
        <p:nvSpPr>
          <p:cNvPr id="17" name="Shape 15"/>
          <p:cNvSpPr/>
          <p:nvPr/>
        </p:nvSpPr>
        <p:spPr>
          <a:xfrm>
            <a:off x="815975" y="3295452"/>
            <a:ext cx="0" cy="491430"/>
          </a:xfrm>
          <a:prstGeom prst="line">
            <a:avLst/>
          </a:prstGeom>
          <a:noFill/>
          <a:ln w="6350">
            <a:solidFill>
              <a:srgbClr val="D9D6CC"/>
            </a:solidFill>
            <a:prstDash val="solid"/>
          </a:ln>
        </p:spPr>
      </p:sp>
      <p:sp>
        <p:nvSpPr>
          <p:cNvPr id="18" name="Text 16"/>
          <p:cNvSpPr/>
          <p:nvPr/>
        </p:nvSpPr>
        <p:spPr>
          <a:xfrm>
            <a:off x="996950" y="3422452"/>
            <a:ext cx="14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B3"/>
                </a:solidFill>
                <a:latin typeface="IBM Plex Sans KR" pitchFamily="34" charset="0"/>
                <a:ea typeface="IBM Plex Sans KR" pitchFamily="34" charset="-122"/>
                <a:cs typeface="IBM Plex Sans KR" pitchFamily="34" charset="-120"/>
              </a:rPr>
              <a:t>3</a:t>
            </a:r>
            <a:endParaRPr lang="en-US" sz="1300" dirty="0"/>
          </a:p>
        </p:txBody>
      </p:sp>
      <p:sp>
        <p:nvSpPr>
          <p:cNvPr id="19" name="Text 17"/>
          <p:cNvSpPr/>
          <p:nvPr/>
        </p:nvSpPr>
        <p:spPr>
          <a:xfrm>
            <a:off x="1223070" y="3422452"/>
            <a:ext cx="279392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이름 · 내용 유사하면 → 이동 + 수정</a:t>
            </a:r>
            <a:endParaRPr lang="en-US" sz="1300" dirty="0"/>
          </a:p>
        </p:txBody>
      </p:sp>
      <p:sp>
        <p:nvSpPr>
          <p:cNvPr id="20" name="Shape 18"/>
          <p:cNvSpPr/>
          <p:nvPr/>
        </p:nvSpPr>
        <p:spPr>
          <a:xfrm>
            <a:off x="812800" y="3786882"/>
            <a:ext cx="5156200" cy="491430"/>
          </a:xfrm>
          <a:prstGeom prst="rect">
            <a:avLst/>
          </a:prstGeom>
          <a:solidFill>
            <a:srgbClr val="FDFCF9"/>
          </a:solidFill>
          <a:ln/>
        </p:spPr>
      </p:sp>
      <p:sp>
        <p:nvSpPr>
          <p:cNvPr id="21" name="Shape 19"/>
          <p:cNvSpPr/>
          <p:nvPr/>
        </p:nvSpPr>
        <p:spPr>
          <a:xfrm>
            <a:off x="5965825" y="3786882"/>
            <a:ext cx="0" cy="491430"/>
          </a:xfrm>
          <a:prstGeom prst="line">
            <a:avLst/>
          </a:prstGeom>
          <a:noFill/>
          <a:ln w="6350">
            <a:solidFill>
              <a:srgbClr val="D9D6CC"/>
            </a:solidFill>
            <a:prstDash val="solid"/>
          </a:ln>
        </p:spPr>
      </p:sp>
      <p:sp>
        <p:nvSpPr>
          <p:cNvPr id="22" name="Shape 20"/>
          <p:cNvSpPr/>
          <p:nvPr/>
        </p:nvSpPr>
        <p:spPr>
          <a:xfrm>
            <a:off x="812800" y="4275138"/>
            <a:ext cx="5156200" cy="0"/>
          </a:xfrm>
          <a:prstGeom prst="line">
            <a:avLst/>
          </a:prstGeom>
          <a:noFill/>
          <a:ln w="6350">
            <a:solidFill>
              <a:srgbClr val="D9D6CC"/>
            </a:solidFill>
            <a:prstDash val="solid"/>
          </a:ln>
        </p:spPr>
      </p:sp>
      <p:sp>
        <p:nvSpPr>
          <p:cNvPr id="23" name="Shape 21"/>
          <p:cNvSpPr/>
          <p:nvPr/>
        </p:nvSpPr>
        <p:spPr>
          <a:xfrm>
            <a:off x="815975" y="3786882"/>
            <a:ext cx="0" cy="491430"/>
          </a:xfrm>
          <a:prstGeom prst="line">
            <a:avLst/>
          </a:prstGeom>
          <a:noFill/>
          <a:ln w="6350">
            <a:solidFill>
              <a:srgbClr val="D9D6CC"/>
            </a:solidFill>
            <a:prstDash val="solid"/>
          </a:ln>
        </p:spPr>
      </p:sp>
      <p:sp>
        <p:nvSpPr>
          <p:cNvPr id="24" name="Text 22"/>
          <p:cNvSpPr/>
          <p:nvPr/>
        </p:nvSpPr>
        <p:spPr>
          <a:xfrm>
            <a:off x="996950" y="3913882"/>
            <a:ext cx="1499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B3"/>
                </a:solidFill>
                <a:latin typeface="IBM Plex Sans KR" pitchFamily="34" charset="0"/>
                <a:ea typeface="IBM Plex Sans KR" pitchFamily="34" charset="-122"/>
                <a:cs typeface="IBM Plex Sans KR" pitchFamily="34" charset="-120"/>
              </a:rPr>
              <a:t>4</a:t>
            </a:r>
            <a:endParaRPr lang="en-US" sz="1300" dirty="0"/>
          </a:p>
        </p:txBody>
      </p:sp>
      <p:sp>
        <p:nvSpPr>
          <p:cNvPr id="25" name="Text 23"/>
          <p:cNvSpPr/>
          <p:nvPr/>
        </p:nvSpPr>
        <p:spPr>
          <a:xfrm>
            <a:off x="1223070" y="3913882"/>
            <a:ext cx="341864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폴더 단위로 묶기 → "frontend/ → client/"</a:t>
            </a:r>
            <a:endParaRPr lang="en-US" sz="1300" dirty="0"/>
          </a:p>
        </p:txBody>
      </p:sp>
      <p:sp>
        <p:nvSpPr>
          <p:cNvPr id="26" name="Text 24"/>
          <p:cNvSpPr/>
          <p:nvPr/>
        </p:nvSpPr>
        <p:spPr>
          <a:xfrm>
            <a:off x="812800" y="4405313"/>
            <a:ext cx="53108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공통 파일이 거의 없으면 </a:t>
            </a:r>
            <a:r>
              <a:rPr lang="en-US" sz="1200" b="1" dirty="0">
                <a:solidFill>
                  <a:srgbClr val="4A5568"/>
                </a:solidFill>
                <a:latin typeface="IBM Plex Sans KR" pitchFamily="34" charset="0"/>
                <a:ea typeface="IBM Plex Sans KR" pitchFamily="34" charset="-122"/>
                <a:cs typeface="IBM Plex Sans KR" pitchFamily="34" charset="-120"/>
              </a:rPr>
              <a:t>같은 프로젝트가 맞는지 확인</a:t>
            </a:r>
            <a:r>
              <a:rPr lang="en-US" sz="1200" dirty="0">
                <a:solidFill>
                  <a:srgbClr val="4A5568"/>
                </a:solidFill>
                <a:latin typeface="IBM Plex Sans KR" pitchFamily="34" charset="0"/>
                <a:ea typeface="IBM Plex Sans KR" pitchFamily="34" charset="-122"/>
                <a:cs typeface="IBM Plex Sans KR" pitchFamily="34" charset="-120"/>
              </a:rPr>
              <a:t> 경고 후 중단</a:t>
            </a:r>
            <a:endParaRPr lang="en-US" sz="1200" dirty="0"/>
          </a:p>
        </p:txBody>
      </p:sp>
      <p:sp>
        <p:nvSpPr>
          <p:cNvPr id="27" name="Text 25"/>
          <p:cNvSpPr/>
          <p:nvPr/>
        </p:nvSpPr>
        <p:spPr>
          <a:xfrm>
            <a:off x="6223000" y="1920180"/>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D1A"/>
                </a:solidFill>
                <a:latin typeface="IBM Plex Sans KR" pitchFamily="34" charset="0"/>
                <a:ea typeface="IBM Plex Sans KR" pitchFamily="34" charset="-122"/>
                <a:cs typeface="IBM Plex Sans KR" pitchFamily="34" charset="-120"/>
              </a:rPr>
              <a:t>계층 요약 (대규모 변경 대응)</a:t>
            </a:r>
            <a:endParaRPr lang="en-US" sz="1700" dirty="0"/>
          </a:p>
        </p:txBody>
      </p:sp>
      <p:sp>
        <p:nvSpPr>
          <p:cNvPr id="28" name="Shape 26"/>
          <p:cNvSpPr/>
          <p:nvPr/>
        </p:nvSpPr>
        <p:spPr>
          <a:xfrm>
            <a:off x="6226175" y="2309416"/>
            <a:ext cx="5149850" cy="2223591"/>
          </a:xfrm>
          <a:prstGeom prst="roundRect">
            <a:avLst>
              <a:gd name="adj" fmla="val 4426"/>
            </a:avLst>
          </a:prstGeom>
          <a:solidFill>
            <a:srgbClr val="FDFCF9"/>
          </a:solidFill>
          <a:ln w="6350">
            <a:solidFill>
              <a:srgbClr val="D9D6CC"/>
            </a:solidFill>
            <a:prstDash val="solid"/>
          </a:ln>
        </p:spPr>
      </p:sp>
      <p:sp>
        <p:nvSpPr>
          <p:cNvPr id="29" name="Text 27"/>
          <p:cNvSpPr/>
          <p:nvPr/>
        </p:nvSpPr>
        <p:spPr>
          <a:xfrm>
            <a:off x="7999413" y="2515791"/>
            <a:ext cx="1603375" cy="375841"/>
          </a:xfrm>
          <a:prstGeom prst="roundRect">
            <a:avLst>
              <a:gd name="adj" fmla="val 16895"/>
            </a:avLst>
          </a:prstGeom>
          <a:solidFill>
            <a:srgbClr val="B44D1A"/>
          </a:solidFill>
          <a:ln/>
        </p:spPr>
        <p:txBody>
          <a:bodyPr wrap="none" lIns="0" tIns="0" rIns="0" bIns="0" rtlCol="0" anchor="ctr">
            <a:normAutofit/>
          </a:bodyPr>
          <a:lstStyle/>
          <a:p>
            <a:pPr algn="ctr" indent="0" marL="0">
              <a:lnSpc>
                <a:spcPts val="1960"/>
              </a:lnSpc>
              <a:buNone/>
            </a:pPr>
            <a:r>
              <a:rPr lang="en-US" sz="1400" b="1" dirty="0">
                <a:solidFill>
                  <a:srgbClr val="FDFCF9"/>
                </a:solidFill>
                <a:latin typeface="IBM Plex Sans KR" pitchFamily="34" charset="0"/>
                <a:ea typeface="IBM Plex Sans KR" pitchFamily="34" charset="-122"/>
                <a:cs typeface="IBM Plex Sans KR" pitchFamily="34" charset="-120"/>
              </a:rPr>
              <a:t>전체 요약 3~5줄</a:t>
            </a:r>
            <a:endParaRPr lang="en-US" sz="1400" dirty="0"/>
          </a:p>
        </p:txBody>
      </p:sp>
      <p:pic>
        <p:nvPicPr>
          <p:cNvPr id="30" name="Image 0" descr="connector">    </p:cNvPr>
          <p:cNvPicPr>
            <a:picLocks noChangeAspect="1"/>
          </p:cNvPicPr>
          <p:nvPr/>
        </p:nvPicPr>
        <p:blipFill>
          <a:blip r:embed="rId1"/>
          <a:srcRect l="0" r="0" t="0" b="0"/>
          <a:stretch/>
        </p:blipFill>
        <p:spPr>
          <a:xfrm>
            <a:off x="8750300" y="2929731"/>
            <a:ext cx="101600" cy="304800"/>
          </a:xfrm>
          <a:prstGeom prst="rect">
            <a:avLst/>
          </a:prstGeom>
        </p:spPr>
      </p:pic>
      <p:sp>
        <p:nvSpPr>
          <p:cNvPr id="31" name="Text 28"/>
          <p:cNvSpPr/>
          <p:nvPr/>
        </p:nvSpPr>
        <p:spPr>
          <a:xfrm>
            <a:off x="7750373" y="3272631"/>
            <a:ext cx="936030" cy="358080"/>
          </a:xfrm>
          <a:prstGeom prst="roundRect">
            <a:avLst>
              <a:gd name="adj" fmla="val 17733"/>
            </a:avLst>
          </a:prstGeom>
          <a:solidFill>
            <a:srgbClr val="FBEFE6"/>
          </a:solidFill>
          <a:ln/>
        </p:spPr>
        <p:txBody>
          <a:bodyPr wrap="none" lIns="0" tIns="0" rIns="0" bIns="0" rtlCol="0" anchor="ctr">
            <a:normAutofit/>
          </a:bodyPr>
          <a:lstStyle/>
          <a:p>
            <a:pPr algn="ct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src/ 요약</a:t>
            </a:r>
            <a:endParaRPr lang="en-US" sz="1300" dirty="0"/>
          </a:p>
        </p:txBody>
      </p:sp>
      <p:sp>
        <p:nvSpPr>
          <p:cNvPr id="32" name="Text 29"/>
          <p:cNvSpPr/>
          <p:nvPr/>
        </p:nvSpPr>
        <p:spPr>
          <a:xfrm>
            <a:off x="8788003" y="3272631"/>
            <a:ext cx="1063823" cy="358080"/>
          </a:xfrm>
          <a:prstGeom prst="roundRect">
            <a:avLst>
              <a:gd name="adj" fmla="val 17733"/>
            </a:avLst>
          </a:prstGeom>
          <a:solidFill>
            <a:srgbClr val="FBEFE6"/>
          </a:solidFill>
          <a:ln/>
        </p:spPr>
        <p:txBody>
          <a:bodyPr wrap="none" lIns="0" tIns="0" rIns="0" bIns="0" rtlCol="0" anchor="ctr">
            <a:normAutofit/>
          </a:bodyPr>
          <a:lstStyle/>
          <a:p>
            <a:pPr algn="ct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docs/ 요약</a:t>
            </a:r>
            <a:endParaRPr lang="en-US" sz="1300" dirty="0"/>
          </a:p>
        </p:txBody>
      </p:sp>
      <p:pic>
        <p:nvPicPr>
          <p:cNvPr id="33" name="Image 1" descr="connector">    </p:cNvPr>
          <p:cNvPicPr>
            <a:picLocks noChangeAspect="1"/>
          </p:cNvPicPr>
          <p:nvPr/>
        </p:nvPicPr>
        <p:blipFill>
          <a:blip r:embed="rId2"/>
          <a:srcRect l="0" r="0" t="0" b="0"/>
          <a:stretch/>
        </p:blipFill>
        <p:spPr>
          <a:xfrm>
            <a:off x="8750300" y="3668812"/>
            <a:ext cx="101600" cy="304800"/>
          </a:xfrm>
          <a:prstGeom prst="rect">
            <a:avLst/>
          </a:prstGeom>
        </p:spPr>
      </p:pic>
      <p:sp>
        <p:nvSpPr>
          <p:cNvPr id="34" name="Text 30"/>
          <p:cNvSpPr/>
          <p:nvPr/>
        </p:nvSpPr>
        <p:spPr>
          <a:xfrm>
            <a:off x="7459861" y="4011712"/>
            <a:ext cx="934740" cy="314920"/>
          </a:xfrm>
          <a:prstGeom prst="roundRect">
            <a:avLst>
              <a:gd name="adj" fmla="val 16131"/>
            </a:avLst>
          </a:prstGeom>
          <a:solidFill>
            <a:srgbClr val="ECEAE3"/>
          </a:solidFill>
          <a:ln/>
        </p:spPr>
        <p:txBody>
          <a:bodyPr wrap="none" lIns="0" tIns="0" rIns="0" bIns="0" rtlCol="0" anchor="ctr">
            <a:normAutofit/>
          </a:bodyPr>
          <a:lstStyle/>
          <a:p>
            <a:pPr algn="ctr"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login.js</a:t>
            </a:r>
            <a:endParaRPr lang="en-US" sz="1200" dirty="0"/>
          </a:p>
        </p:txBody>
      </p:sp>
      <p:sp>
        <p:nvSpPr>
          <p:cNvPr id="35" name="Text 31"/>
          <p:cNvSpPr/>
          <p:nvPr/>
        </p:nvSpPr>
        <p:spPr>
          <a:xfrm>
            <a:off x="8470801" y="4011712"/>
            <a:ext cx="843359" cy="314920"/>
          </a:xfrm>
          <a:prstGeom prst="roundRect">
            <a:avLst>
              <a:gd name="adj" fmla="val 16131"/>
            </a:avLst>
          </a:prstGeom>
          <a:solidFill>
            <a:srgbClr val="ECEAE3"/>
          </a:solidFill>
          <a:ln/>
        </p:spPr>
        <p:txBody>
          <a:bodyPr wrap="none" lIns="0" tIns="0" rIns="0" bIns="0" rtlCol="0" anchor="ctr">
            <a:normAutofit/>
          </a:bodyPr>
          <a:lstStyle/>
          <a:p>
            <a:pPr algn="ctr"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auth.py</a:t>
            </a:r>
            <a:endParaRPr lang="en-US" sz="1200" dirty="0"/>
          </a:p>
        </p:txBody>
      </p:sp>
      <p:sp>
        <p:nvSpPr>
          <p:cNvPr id="36" name="Text 32"/>
          <p:cNvSpPr/>
          <p:nvPr/>
        </p:nvSpPr>
        <p:spPr>
          <a:xfrm>
            <a:off x="9390360" y="4011712"/>
            <a:ext cx="751880" cy="314920"/>
          </a:xfrm>
          <a:prstGeom prst="roundRect">
            <a:avLst>
              <a:gd name="adj" fmla="val 16131"/>
            </a:avLst>
          </a:prstGeom>
          <a:solidFill>
            <a:srgbClr val="ECEAE3"/>
          </a:solidFill>
          <a:ln/>
        </p:spPr>
        <p:txBody>
          <a:bodyPr wrap="none" lIns="0" tIns="0" rIns="0" bIns="0" rtlCol="0" anchor="ctr">
            <a:normAutofit/>
          </a:bodyPr>
          <a:lstStyle/>
          <a:p>
            <a:pPr algn="ctr"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README</a:t>
            </a:r>
            <a:endParaRPr lang="en-US" sz="1200" dirty="0"/>
          </a:p>
        </p:txBody>
      </p:sp>
      <p:sp>
        <p:nvSpPr>
          <p:cNvPr id="37" name="Text 33"/>
          <p:cNvSpPr/>
          <p:nvPr/>
        </p:nvSpPr>
        <p:spPr>
          <a:xfrm>
            <a:off x="6223000" y="4663182"/>
            <a:ext cx="53108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파일 요약의 핵심 키워드 · 함수명을 상위 단계로 전달해 정보 손실 방지</a:t>
            </a:r>
            <a:endParaRPr lang="en-US" sz="1200" dirty="0"/>
          </a:p>
        </p:txBody>
      </p:sp>
      <p:sp>
        <p:nvSpPr>
          <p:cNvPr id="38"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근거 검증</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AI 문장을 근거와 자동 대조</a:t>
            </a:r>
            <a:endParaRPr lang="en-US" sz="3200" dirty="0"/>
          </a:p>
        </p:txBody>
      </p:sp>
      <p:sp>
        <p:nvSpPr>
          <p:cNvPr id="4" name="Text 2"/>
          <p:cNvSpPr/>
          <p:nvPr/>
        </p:nvSpPr>
        <p:spPr>
          <a:xfrm>
            <a:off x="812800" y="1920180"/>
            <a:ext cx="53108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LLM 출력 예시 (JSON)</a:t>
            </a:r>
            <a:endParaRPr lang="en-US" sz="1300" dirty="0"/>
          </a:p>
        </p:txBody>
      </p:sp>
      <p:sp>
        <p:nvSpPr>
          <p:cNvPr id="5" name="Text 3"/>
          <p:cNvSpPr/>
          <p:nvPr/>
        </p:nvSpPr>
        <p:spPr>
          <a:xfrm>
            <a:off x="812800" y="2252861"/>
            <a:ext cx="5156200" cy="2163663"/>
          </a:xfrm>
          <a:prstGeom prst="roundRect">
            <a:avLst>
              <a:gd name="adj" fmla="val 4696"/>
            </a:avLst>
          </a:prstGeom>
          <a:solidFill>
            <a:srgbClr val="1B2433"/>
          </a:solidFill>
          <a:ln/>
        </p:spPr>
        <p:txBody>
          <a:bodyPr wrap="square" lIns="198842" tIns="198842" rIns="57872" bIns="173442" rtlCol="0" anchor="t">
            <a:normAutofit/>
          </a:bodyPr>
          <a:lstStyle/>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  "file": "src/login.js",</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  "summary": "로그인 실패 시</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    validatePassword()로</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    비밀번호 형식 검사 추가",</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  "evidence": ["H12"]</a:t>
            </a:r>
            <a:endParaRPr lang="en-US" sz="1200" dirty="0"/>
          </a:p>
          <a:p>
            <a:pPr algn="l" indent="0" marL="0">
              <a:lnSpc>
                <a:spcPts val="1920"/>
              </a:lnSpc>
              <a:buNone/>
            </a:pPr>
            <a:r>
              <a:rPr lang="en-US" sz="1200" dirty="0">
                <a:solidFill>
                  <a:srgbClr val="E6E9EF"/>
                </a:solidFill>
                <a:latin typeface="JetBrains Mono" pitchFamily="49" charset="0"/>
                <a:ea typeface="JetBrains Mono" pitchFamily="49" charset="-122"/>
                <a:cs typeface="JetBrains Mono" pitchFamily="49" charset="-120"/>
              </a:rPr>
              <a:t>}</a:t>
            </a:r>
            <a:endParaRPr lang="en-US" sz="1200" dirty="0"/>
          </a:p>
        </p:txBody>
      </p:sp>
      <p:sp>
        <p:nvSpPr>
          <p:cNvPr id="6" name="Text 4"/>
          <p:cNvSpPr/>
          <p:nvPr/>
        </p:nvSpPr>
        <p:spPr>
          <a:xfrm>
            <a:off x="812800" y="4518124"/>
            <a:ext cx="53108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H12 = src/login.js 40~58줄 변경 조각 (엔진이 번호 부여)</a:t>
            </a:r>
            <a:endParaRPr lang="en-US" sz="1200" dirty="0"/>
          </a:p>
        </p:txBody>
      </p:sp>
      <p:sp>
        <p:nvSpPr>
          <p:cNvPr id="7" name="Text 5"/>
          <p:cNvSpPr/>
          <p:nvPr/>
        </p:nvSpPr>
        <p:spPr>
          <a:xfrm>
            <a:off x="6223000" y="1920180"/>
            <a:ext cx="53108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KR" pitchFamily="34" charset="0"/>
                <a:ea typeface="IBM Plex Sans KR" pitchFamily="34" charset="-122"/>
                <a:cs typeface="IBM Plex Sans KR" pitchFamily="34" charset="-120"/>
              </a:rPr>
              <a:t>자동 검증 규칙</a:t>
            </a:r>
            <a:endParaRPr lang="en-US" sz="1300" dirty="0"/>
          </a:p>
        </p:txBody>
      </p:sp>
      <p:sp>
        <p:nvSpPr>
          <p:cNvPr id="8" name="Shape 6"/>
          <p:cNvSpPr/>
          <p:nvPr/>
        </p:nvSpPr>
        <p:spPr>
          <a:xfrm>
            <a:off x="6226175" y="2256036"/>
            <a:ext cx="5149850" cy="516830"/>
          </a:xfrm>
          <a:prstGeom prst="rect">
            <a:avLst/>
          </a:prstGeom>
          <a:solidFill>
            <a:srgbClr val="FDFCF9"/>
          </a:solidFill>
          <a:ln w="6350">
            <a:solidFill>
              <a:srgbClr val="D9D6CC"/>
            </a:solidFill>
            <a:prstDash val="solid"/>
          </a:ln>
        </p:spPr>
      </p:sp>
      <p:pic>
        <p:nvPicPr>
          <p:cNvPr id="9" name="Image 0" descr="CheckCircle">    </p:cNvPr>
          <p:cNvPicPr>
            <a:picLocks noChangeAspect="1"/>
          </p:cNvPicPr>
          <p:nvPr/>
        </p:nvPicPr>
        <p:blipFill>
          <a:blip r:embed="rId1"/>
          <a:srcRect l="0" r="0" t="0" b="0"/>
          <a:stretch/>
        </p:blipFill>
        <p:spPr>
          <a:xfrm>
            <a:off x="6407150" y="2400102"/>
            <a:ext cx="228600" cy="228600"/>
          </a:xfrm>
          <a:prstGeom prst="rect">
            <a:avLst/>
          </a:prstGeom>
        </p:spPr>
      </p:pic>
      <p:sp>
        <p:nvSpPr>
          <p:cNvPr id="10" name="Text 7"/>
          <p:cNvSpPr/>
          <p:nvPr/>
        </p:nvSpPr>
        <p:spPr>
          <a:xfrm>
            <a:off x="6762750" y="2398911"/>
            <a:ext cx="246209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근거 H12가 실제로 존재하는가</a:t>
            </a:r>
            <a:endParaRPr lang="en-US" sz="1300" dirty="0"/>
          </a:p>
        </p:txBody>
      </p:sp>
      <p:sp>
        <p:nvSpPr>
          <p:cNvPr id="11" name="Shape 8"/>
          <p:cNvSpPr/>
          <p:nvPr/>
        </p:nvSpPr>
        <p:spPr>
          <a:xfrm>
            <a:off x="6223000" y="2776041"/>
            <a:ext cx="5156200" cy="516830"/>
          </a:xfrm>
          <a:prstGeom prst="rect">
            <a:avLst/>
          </a:prstGeom>
          <a:solidFill>
            <a:srgbClr val="FDFCF9"/>
          </a:solidFill>
          <a:ln/>
        </p:spPr>
      </p:sp>
      <p:sp>
        <p:nvSpPr>
          <p:cNvPr id="12" name="Shape 9"/>
          <p:cNvSpPr/>
          <p:nvPr/>
        </p:nvSpPr>
        <p:spPr>
          <a:xfrm>
            <a:off x="11376025" y="2776041"/>
            <a:ext cx="0" cy="516830"/>
          </a:xfrm>
          <a:prstGeom prst="line">
            <a:avLst/>
          </a:prstGeom>
          <a:noFill/>
          <a:ln w="6350">
            <a:solidFill>
              <a:srgbClr val="D9D6CC"/>
            </a:solidFill>
            <a:prstDash val="solid"/>
          </a:ln>
        </p:spPr>
      </p:sp>
      <p:sp>
        <p:nvSpPr>
          <p:cNvPr id="13" name="Shape 10"/>
          <p:cNvSpPr/>
          <p:nvPr/>
        </p:nvSpPr>
        <p:spPr>
          <a:xfrm>
            <a:off x="6223000" y="3289697"/>
            <a:ext cx="5156200" cy="0"/>
          </a:xfrm>
          <a:prstGeom prst="line">
            <a:avLst/>
          </a:prstGeom>
          <a:noFill/>
          <a:ln w="6350">
            <a:solidFill>
              <a:srgbClr val="D9D6CC"/>
            </a:solidFill>
            <a:prstDash val="solid"/>
          </a:ln>
        </p:spPr>
      </p:sp>
      <p:sp>
        <p:nvSpPr>
          <p:cNvPr id="14" name="Shape 11"/>
          <p:cNvSpPr/>
          <p:nvPr/>
        </p:nvSpPr>
        <p:spPr>
          <a:xfrm>
            <a:off x="6226175" y="2776041"/>
            <a:ext cx="0" cy="516830"/>
          </a:xfrm>
          <a:prstGeom prst="line">
            <a:avLst/>
          </a:prstGeom>
          <a:noFill/>
          <a:ln w="6350">
            <a:solidFill>
              <a:srgbClr val="D9D6CC"/>
            </a:solidFill>
            <a:prstDash val="solid"/>
          </a:ln>
        </p:spPr>
      </p:sp>
      <p:pic>
        <p:nvPicPr>
          <p:cNvPr id="15" name="Image 1" descr="CheckCircle">    </p:cNvPr>
          <p:cNvPicPr>
            <a:picLocks noChangeAspect="1"/>
          </p:cNvPicPr>
          <p:nvPr/>
        </p:nvPicPr>
        <p:blipFill>
          <a:blip r:embed="rId2"/>
          <a:srcRect l="0" r="0" t="0" b="0"/>
          <a:stretch/>
        </p:blipFill>
        <p:spPr>
          <a:xfrm>
            <a:off x="6407150" y="2916932"/>
            <a:ext cx="228600" cy="228600"/>
          </a:xfrm>
          <a:prstGeom prst="rect">
            <a:avLst/>
          </a:prstGeom>
        </p:spPr>
      </p:pic>
      <p:sp>
        <p:nvSpPr>
          <p:cNvPr id="16" name="Text 12"/>
          <p:cNvSpPr/>
          <p:nvPr/>
        </p:nvSpPr>
        <p:spPr>
          <a:xfrm>
            <a:off x="6762750" y="2915741"/>
            <a:ext cx="438388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문장의 식별자(validatePassword)가 H12 안에 있는가</a:t>
            </a:r>
            <a:endParaRPr lang="en-US" sz="1300" dirty="0"/>
          </a:p>
        </p:txBody>
      </p:sp>
      <p:sp>
        <p:nvSpPr>
          <p:cNvPr id="17" name="Shape 13"/>
          <p:cNvSpPr/>
          <p:nvPr/>
        </p:nvSpPr>
        <p:spPr>
          <a:xfrm>
            <a:off x="6223000" y="3292872"/>
            <a:ext cx="5156200" cy="516830"/>
          </a:xfrm>
          <a:prstGeom prst="rect">
            <a:avLst/>
          </a:prstGeom>
          <a:solidFill>
            <a:srgbClr val="FDFCF9"/>
          </a:solidFill>
          <a:ln/>
        </p:spPr>
      </p:sp>
      <p:sp>
        <p:nvSpPr>
          <p:cNvPr id="18" name="Shape 14"/>
          <p:cNvSpPr/>
          <p:nvPr/>
        </p:nvSpPr>
        <p:spPr>
          <a:xfrm>
            <a:off x="11376025" y="3292872"/>
            <a:ext cx="0" cy="516830"/>
          </a:xfrm>
          <a:prstGeom prst="line">
            <a:avLst/>
          </a:prstGeom>
          <a:noFill/>
          <a:ln w="6350">
            <a:solidFill>
              <a:srgbClr val="D9D6CC"/>
            </a:solidFill>
            <a:prstDash val="solid"/>
          </a:ln>
        </p:spPr>
      </p:sp>
      <p:sp>
        <p:nvSpPr>
          <p:cNvPr id="19" name="Shape 15"/>
          <p:cNvSpPr/>
          <p:nvPr/>
        </p:nvSpPr>
        <p:spPr>
          <a:xfrm>
            <a:off x="6223000" y="3806527"/>
            <a:ext cx="5156200" cy="0"/>
          </a:xfrm>
          <a:prstGeom prst="line">
            <a:avLst/>
          </a:prstGeom>
          <a:noFill/>
          <a:ln w="6350">
            <a:solidFill>
              <a:srgbClr val="D9D6CC"/>
            </a:solidFill>
            <a:prstDash val="solid"/>
          </a:ln>
        </p:spPr>
      </p:sp>
      <p:sp>
        <p:nvSpPr>
          <p:cNvPr id="20" name="Shape 16"/>
          <p:cNvSpPr/>
          <p:nvPr/>
        </p:nvSpPr>
        <p:spPr>
          <a:xfrm>
            <a:off x="6226175" y="3292872"/>
            <a:ext cx="0" cy="516830"/>
          </a:xfrm>
          <a:prstGeom prst="line">
            <a:avLst/>
          </a:prstGeom>
          <a:noFill/>
          <a:ln w="6350">
            <a:solidFill>
              <a:srgbClr val="D9D6CC"/>
            </a:solidFill>
            <a:prstDash val="solid"/>
          </a:ln>
        </p:spPr>
      </p:sp>
      <p:pic>
        <p:nvPicPr>
          <p:cNvPr id="21" name="Image 2" descr="CheckCircle">    </p:cNvPr>
          <p:cNvPicPr>
            <a:picLocks noChangeAspect="1"/>
          </p:cNvPicPr>
          <p:nvPr/>
        </p:nvPicPr>
        <p:blipFill>
          <a:blip r:embed="rId3"/>
          <a:srcRect l="0" r="0" t="0" b="0"/>
          <a:stretch/>
        </p:blipFill>
        <p:spPr>
          <a:xfrm>
            <a:off x="6407150" y="3433763"/>
            <a:ext cx="228600" cy="228600"/>
          </a:xfrm>
          <a:prstGeom prst="rect">
            <a:avLst/>
          </a:prstGeom>
        </p:spPr>
      </p:pic>
      <p:sp>
        <p:nvSpPr>
          <p:cNvPr id="22" name="Text 17"/>
          <p:cNvSpPr/>
          <p:nvPr/>
        </p:nvSpPr>
        <p:spPr>
          <a:xfrm>
            <a:off x="6762750" y="3432572"/>
            <a:ext cx="306145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언급한 파일이 실제 변경 목록에 있는가</a:t>
            </a:r>
            <a:endParaRPr lang="en-US" sz="1300" dirty="0"/>
          </a:p>
        </p:txBody>
      </p:sp>
      <p:sp>
        <p:nvSpPr>
          <p:cNvPr id="23" name="Shape 18"/>
          <p:cNvSpPr/>
          <p:nvPr/>
        </p:nvSpPr>
        <p:spPr>
          <a:xfrm>
            <a:off x="6223000" y="3809702"/>
            <a:ext cx="5156200" cy="516830"/>
          </a:xfrm>
          <a:prstGeom prst="rect">
            <a:avLst/>
          </a:prstGeom>
          <a:solidFill>
            <a:srgbClr val="FDFCF9"/>
          </a:solidFill>
          <a:ln/>
        </p:spPr>
      </p:sp>
      <p:sp>
        <p:nvSpPr>
          <p:cNvPr id="24" name="Shape 19"/>
          <p:cNvSpPr/>
          <p:nvPr/>
        </p:nvSpPr>
        <p:spPr>
          <a:xfrm>
            <a:off x="11376025" y="3809702"/>
            <a:ext cx="0" cy="516830"/>
          </a:xfrm>
          <a:prstGeom prst="line">
            <a:avLst/>
          </a:prstGeom>
          <a:noFill/>
          <a:ln w="6350">
            <a:solidFill>
              <a:srgbClr val="D9D6CC"/>
            </a:solidFill>
            <a:prstDash val="solid"/>
          </a:ln>
        </p:spPr>
      </p:sp>
      <p:sp>
        <p:nvSpPr>
          <p:cNvPr id="25" name="Shape 20"/>
          <p:cNvSpPr/>
          <p:nvPr/>
        </p:nvSpPr>
        <p:spPr>
          <a:xfrm>
            <a:off x="6223000" y="4323358"/>
            <a:ext cx="5156200" cy="0"/>
          </a:xfrm>
          <a:prstGeom prst="line">
            <a:avLst/>
          </a:prstGeom>
          <a:noFill/>
          <a:ln w="6350">
            <a:solidFill>
              <a:srgbClr val="D9D6CC"/>
            </a:solidFill>
            <a:prstDash val="solid"/>
          </a:ln>
        </p:spPr>
      </p:sp>
      <p:sp>
        <p:nvSpPr>
          <p:cNvPr id="26" name="Shape 21"/>
          <p:cNvSpPr/>
          <p:nvPr/>
        </p:nvSpPr>
        <p:spPr>
          <a:xfrm>
            <a:off x="6226175" y="3809702"/>
            <a:ext cx="0" cy="516830"/>
          </a:xfrm>
          <a:prstGeom prst="line">
            <a:avLst/>
          </a:prstGeom>
          <a:noFill/>
          <a:ln w="6350">
            <a:solidFill>
              <a:srgbClr val="D9D6CC"/>
            </a:solidFill>
            <a:prstDash val="solid"/>
          </a:ln>
        </p:spPr>
      </p:sp>
      <p:pic>
        <p:nvPicPr>
          <p:cNvPr id="27" name="Image 3" descr="CheckCircle">    </p:cNvPr>
          <p:cNvPicPr>
            <a:picLocks noChangeAspect="1"/>
          </p:cNvPicPr>
          <p:nvPr/>
        </p:nvPicPr>
        <p:blipFill>
          <a:blip r:embed="rId4"/>
          <a:srcRect l="0" r="0" t="0" b="0"/>
          <a:stretch/>
        </p:blipFill>
        <p:spPr>
          <a:xfrm>
            <a:off x="6407150" y="3950593"/>
            <a:ext cx="228600" cy="228600"/>
          </a:xfrm>
          <a:prstGeom prst="rect">
            <a:avLst/>
          </a:prstGeom>
        </p:spPr>
      </p:pic>
      <p:sp>
        <p:nvSpPr>
          <p:cNvPr id="28" name="Text 22"/>
          <p:cNvSpPr/>
          <p:nvPr/>
        </p:nvSpPr>
        <p:spPr>
          <a:xfrm>
            <a:off x="6762750" y="3949402"/>
            <a:ext cx="324088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숫자를 썼는가 (숫자는 엔진만 쓸 수 있음)</a:t>
            </a:r>
            <a:endParaRPr lang="en-US" sz="1300" dirty="0"/>
          </a:p>
        </p:txBody>
      </p:sp>
      <p:sp>
        <p:nvSpPr>
          <p:cNvPr id="29" name="Shape 23"/>
          <p:cNvSpPr/>
          <p:nvPr/>
        </p:nvSpPr>
        <p:spPr>
          <a:xfrm>
            <a:off x="6223000" y="4428133"/>
            <a:ext cx="5156200" cy="485080"/>
          </a:xfrm>
          <a:prstGeom prst="roundRect">
            <a:avLst>
              <a:gd name="adj" fmla="val 15709"/>
            </a:avLst>
          </a:prstGeom>
          <a:solidFill>
            <a:srgbClr val="FBEFE6"/>
          </a:solidFill>
          <a:ln/>
        </p:spPr>
      </p:sp>
      <p:pic>
        <p:nvPicPr>
          <p:cNvPr id="30" name="Image 4" descr="Warning">    </p:cNvPr>
          <p:cNvPicPr>
            <a:picLocks noChangeAspect="1"/>
          </p:cNvPicPr>
          <p:nvPr/>
        </p:nvPicPr>
        <p:blipFill>
          <a:blip r:embed="rId5"/>
          <a:srcRect l="0" r="0" t="0" b="0"/>
          <a:stretch/>
        </p:blipFill>
        <p:spPr>
          <a:xfrm>
            <a:off x="6400800" y="4556323"/>
            <a:ext cx="228600" cy="228600"/>
          </a:xfrm>
          <a:prstGeom prst="rect">
            <a:avLst/>
          </a:prstGeom>
        </p:spPr>
      </p:pic>
      <p:sp>
        <p:nvSpPr>
          <p:cNvPr id="31" name="Text 24"/>
          <p:cNvSpPr/>
          <p:nvPr/>
        </p:nvSpPr>
        <p:spPr>
          <a:xfrm>
            <a:off x="6731000" y="4555133"/>
            <a:ext cx="44490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하나라도 어긋나면 ⚠ 경고 뱃지 + 근거 위치로 바로 이동</a:t>
            </a:r>
            <a:endParaRPr lang="en-US" sz="1300" dirty="0"/>
          </a:p>
        </p:txBody>
      </p:sp>
      <p:sp>
        <p:nvSpPr>
          <p:cNvPr id="32"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11</a:t>
            </a:r>
            <a:endParaRPr lang="en-US" sz="1200" dirty="0"/>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데이터 수집 및 전처리</a:t>
            </a:r>
            <a:endParaRPr lang="en-US" sz="1200" dirty="0"/>
          </a:p>
        </p:txBody>
      </p:sp>
      <p:sp>
        <p:nvSpPr>
          <p:cNvPr id="4" name="Text 2"/>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테스트 데이터와 전처리</a:t>
            </a:r>
            <a:endParaRPr lang="en-US" sz="3200" dirty="0"/>
          </a:p>
        </p:txBody>
      </p:sp>
      <p:sp>
        <p:nvSpPr>
          <p:cNvPr id="5" name="Shape 3"/>
          <p:cNvSpPr/>
          <p:nvPr/>
        </p:nvSpPr>
        <p:spPr>
          <a:xfrm>
            <a:off x="812800" y="1917700"/>
            <a:ext cx="3386634" cy="3308350"/>
          </a:xfrm>
          <a:prstGeom prst="roundRect">
            <a:avLst>
              <a:gd name="adj" fmla="val 2303"/>
            </a:avLst>
          </a:prstGeom>
          <a:solidFill>
            <a:srgbClr val="FDFCF9"/>
          </a:solidFill>
          <a:ln/>
        </p:spPr>
      </p:sp>
      <p:sp>
        <p:nvSpPr>
          <p:cNvPr id="6" name="Shape 4"/>
          <p:cNvSpPr/>
          <p:nvPr/>
        </p:nvSpPr>
        <p:spPr>
          <a:xfrm>
            <a:off x="812800" y="1917700"/>
            <a:ext cx="3386634" cy="3308350"/>
          </a:xfrm>
          <a:custGeom>
            <a:avLst/>
            <a:gdLst/>
            <a:ahLst/>
            <a:cxnLst/>
            <a:rect l="l" t="t" r="r" b="b"/>
            <a:pathLst>
              <a:path w="3386634" h="3308350">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5FB3"/>
          </a:solidFill>
          <a:ln/>
        </p:spPr>
      </p:sp>
      <p:sp>
        <p:nvSpPr>
          <p:cNvPr id="7" name="Text 5"/>
          <p:cNvSpPr/>
          <p:nvPr/>
        </p:nvSpPr>
        <p:spPr>
          <a:xfrm>
            <a:off x="1066800" y="220980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데이터 출처</a:t>
            </a:r>
            <a:endParaRPr lang="en-US" sz="1700" dirty="0"/>
          </a:p>
        </p:txBody>
      </p:sp>
      <p:sp>
        <p:nvSpPr>
          <p:cNvPr id="8" name="Text 6"/>
          <p:cNvSpPr/>
          <p:nvPr/>
        </p:nvSpPr>
        <p:spPr>
          <a:xfrm>
            <a:off x="1066800" y="2595860"/>
            <a:ext cx="2964993" cy="1816596"/>
          </a:xfrm>
          <a:prstGeom prst="rect">
            <a:avLst/>
          </a:prstGeom>
          <a:noFill/>
          <a:ln/>
        </p:spPr>
        <p:txBody>
          <a:bodyPr wrap="square" lIns="0" tIns="0" rIns="0" bIns="0" rtlCol="0" anchor="t">
            <a:normAutofit/>
          </a:bodyPr>
          <a:lstStyle/>
          <a:p>
            <a:pPr algn="l" marL="254000" indent="-254000">
              <a:lnSpc>
                <a:spcPts val="2015"/>
              </a:lnSpc>
              <a:buSzPct val="100000"/>
              <a:buFontTx/>
              <a:buAutoNum type="arabicPeriod" startAt="1"/>
            </a:pPr>
            <a:r>
              <a:rPr lang="en-US" sz="1300" dirty="0">
                <a:solidFill>
                  <a:srgbClr val="4A5568"/>
                </a:solidFill>
                <a:latin typeface="IBM Plex Sans KR" pitchFamily="34" charset="0"/>
                <a:ea typeface="IBM Plex Sans KR" pitchFamily="34" charset="-122"/>
                <a:cs typeface="IBM Plex Sans KR" pitchFamily="34" charset="-120"/>
              </a:rPr>
              <a:t>팀원들의 예전 과제 버전 파일</a:t>
            </a:r>
            <a:endParaRPr lang="en-US" sz="1300" dirty="0"/>
          </a:p>
          <a:p>
            <a:pPr algn="l" indent="0" marL="0">
              <a:lnSpc>
                <a:spcPts val="2015"/>
              </a:lnSpc>
              <a:buNone/>
            </a:pP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2. GitHub 공개 저장소의 커밋 두 개를</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스냅샷 쌍으로 변환</a:t>
            </a:r>
            <a:endParaRPr lang="en-US" sz="1300" dirty="0"/>
          </a:p>
          <a:p>
            <a:pPr algn="l" indent="0" marL="0">
              <a:lnSpc>
                <a:spcPts val="2015"/>
              </a:lnSpc>
              <a:buNone/>
            </a:pP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3. 직접 만든 테스트 세트</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(hwp · docx 수정본, 폴더 이동)</a:t>
            </a:r>
            <a:endParaRPr lang="en-US" sz="1300" dirty="0"/>
          </a:p>
        </p:txBody>
      </p:sp>
      <p:sp>
        <p:nvSpPr>
          <p:cNvPr id="9" name="Text 7"/>
          <p:cNvSpPr/>
          <p:nvPr/>
        </p:nvSpPr>
        <p:spPr>
          <a:xfrm>
            <a:off x="1066800" y="4514056"/>
            <a:ext cx="2964993"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2F5FB3"/>
                </a:solidFill>
                <a:latin typeface="IBM Plex Sans KR" pitchFamily="34" charset="0"/>
                <a:ea typeface="IBM Plex Sans KR" pitchFamily="34" charset="-122"/>
                <a:cs typeface="IBM Plex Sans KR" pitchFamily="34" charset="-120"/>
              </a:rPr>
              <a:t>② 는 Git 기록이 곧 정답</a:t>
            </a:r>
            <a:endParaRPr lang="en-US" sz="1200" dirty="0"/>
          </a:p>
          <a:p>
            <a:pPr algn="l" indent="0" marL="0">
              <a:lnSpc>
                <a:spcPts val="1800"/>
              </a:lnSpc>
              <a:buNone/>
            </a:pPr>
            <a:r>
              <a:rPr lang="en-US" sz="1200" dirty="0">
                <a:solidFill>
                  <a:srgbClr val="2F5FB3"/>
                </a:solidFill>
                <a:latin typeface="IBM Plex Sans KR" pitchFamily="34" charset="0"/>
                <a:ea typeface="IBM Plex Sans KR" pitchFamily="34" charset="-122"/>
                <a:cs typeface="IBM Plex Sans KR" pitchFamily="34" charset="-120"/>
              </a:rPr>
              <a:t>→ 평가용 정답 데이터 자동 확보</a:t>
            </a:r>
            <a:endParaRPr lang="en-US" sz="1200" dirty="0"/>
          </a:p>
        </p:txBody>
      </p:sp>
      <p:sp>
        <p:nvSpPr>
          <p:cNvPr id="10" name="Shape 8"/>
          <p:cNvSpPr/>
          <p:nvPr/>
        </p:nvSpPr>
        <p:spPr>
          <a:xfrm>
            <a:off x="4402634" y="1917700"/>
            <a:ext cx="3386634" cy="3308350"/>
          </a:xfrm>
          <a:prstGeom prst="roundRect">
            <a:avLst>
              <a:gd name="adj" fmla="val 2303"/>
            </a:avLst>
          </a:prstGeom>
          <a:solidFill>
            <a:srgbClr val="FDFCF9"/>
          </a:solidFill>
          <a:ln/>
        </p:spPr>
      </p:sp>
      <p:sp>
        <p:nvSpPr>
          <p:cNvPr id="11" name="Shape 9"/>
          <p:cNvSpPr/>
          <p:nvPr/>
        </p:nvSpPr>
        <p:spPr>
          <a:xfrm>
            <a:off x="4402634" y="1917700"/>
            <a:ext cx="3386634" cy="3308350"/>
          </a:xfrm>
          <a:custGeom>
            <a:avLst/>
            <a:gdLst/>
            <a:ahLst/>
            <a:cxnLst/>
            <a:rect l="l" t="t" r="r" b="b"/>
            <a:pathLst>
              <a:path w="3386634" h="3308350">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5FB3"/>
          </a:solidFill>
          <a:ln/>
        </p:spPr>
      </p:sp>
      <p:sp>
        <p:nvSpPr>
          <p:cNvPr id="12" name="Text 10"/>
          <p:cNvSpPr/>
          <p:nvPr/>
        </p:nvSpPr>
        <p:spPr>
          <a:xfrm>
            <a:off x="4656634" y="220980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전처리</a:t>
            </a:r>
            <a:endParaRPr lang="en-US" sz="1700" dirty="0"/>
          </a:p>
        </p:txBody>
      </p:sp>
      <p:sp>
        <p:nvSpPr>
          <p:cNvPr id="13" name="Text 11"/>
          <p:cNvSpPr/>
          <p:nvPr/>
        </p:nvSpPr>
        <p:spPr>
          <a:xfrm>
            <a:off x="4656634" y="2595860"/>
            <a:ext cx="2964993" cy="2072481"/>
          </a:xfrm>
          <a:prstGeom prst="rect">
            <a:avLst/>
          </a:prstGeom>
          <a:noFill/>
          <a:ln/>
        </p:spPr>
        <p:txBody>
          <a:bodyPr wrap="square" lIns="0" tIns="0" rIns="0" bIns="0" rtlCol="0" anchor="t">
            <a:normAutofit/>
          </a:bodyPr>
          <a:lstStyle/>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노이즈 제외</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(빌드 산출물, 캐시, node_modules)</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인코딩 판별 (cp949 / utf-8)</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문서 파일 본문 텍스트 추출</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zip의 최상위 폴더 정리</a:t>
            </a:r>
            <a:endParaRPr lang="en-US" sz="1300" dirty="0"/>
          </a:p>
        </p:txBody>
      </p:sp>
      <p:sp>
        <p:nvSpPr>
          <p:cNvPr id="14" name="Shape 12"/>
          <p:cNvSpPr/>
          <p:nvPr/>
        </p:nvSpPr>
        <p:spPr>
          <a:xfrm>
            <a:off x="7992467" y="1917700"/>
            <a:ext cx="3386634" cy="3308350"/>
          </a:xfrm>
          <a:prstGeom prst="roundRect">
            <a:avLst>
              <a:gd name="adj" fmla="val 2303"/>
            </a:avLst>
          </a:prstGeom>
          <a:solidFill>
            <a:srgbClr val="FBEFE6"/>
          </a:solidFill>
          <a:ln/>
        </p:spPr>
      </p:sp>
      <p:sp>
        <p:nvSpPr>
          <p:cNvPr id="15" name="Shape 13"/>
          <p:cNvSpPr/>
          <p:nvPr/>
        </p:nvSpPr>
        <p:spPr>
          <a:xfrm>
            <a:off x="7992467" y="1917700"/>
            <a:ext cx="3386634" cy="3308350"/>
          </a:xfrm>
          <a:custGeom>
            <a:avLst/>
            <a:gdLst/>
            <a:ahLst/>
            <a:cxnLst/>
            <a:rect l="l" t="t" r="r" b="b"/>
            <a:pathLst>
              <a:path w="3386634" h="3308350">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B44D1A"/>
          </a:solidFill>
          <a:ln/>
        </p:spPr>
      </p:sp>
      <p:sp>
        <p:nvSpPr>
          <p:cNvPr id="16" name="Text 14"/>
          <p:cNvSpPr/>
          <p:nvPr/>
        </p:nvSpPr>
        <p:spPr>
          <a:xfrm>
            <a:off x="8246467" y="220980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윤리적 고려</a:t>
            </a:r>
            <a:endParaRPr lang="en-US" sz="1700" dirty="0"/>
          </a:p>
        </p:txBody>
      </p:sp>
      <p:sp>
        <p:nvSpPr>
          <p:cNvPr id="17" name="Text 15"/>
          <p:cNvSpPr/>
          <p:nvPr/>
        </p:nvSpPr>
        <p:spPr>
          <a:xfrm>
            <a:off x="8246467" y="2595860"/>
            <a:ext cx="2964993" cy="1816596"/>
          </a:xfrm>
          <a:prstGeom prst="rect">
            <a:avLst/>
          </a:prstGeom>
          <a:noFill/>
          <a:ln/>
        </p:spPr>
        <p:txBody>
          <a:bodyPr wrap="square" lIns="0" tIns="0" rIns="0" bIns="0" rtlCol="0" anchor="t">
            <a:normAutofit/>
          </a:bodyPr>
          <a:lstStyle/>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개인정보 · 남의 비공개 코드는</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LLM에 보내지 않음</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API 키 · 비밀번호 파일(.env 등)은</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전송 전 자동 제외</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공개 저장소 사용 시 라이선스 확인</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구현 도구 및 환경</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무료 도구로 구성한 개발 환경</a:t>
            </a:r>
            <a:endParaRPr lang="en-US" sz="3200" dirty="0"/>
          </a:p>
        </p:txBody>
      </p:sp>
      <p:sp>
        <p:nvSpPr>
          <p:cNvPr id="4" name="Shape 2"/>
          <p:cNvSpPr/>
          <p:nvPr/>
        </p:nvSpPr>
        <p:spPr>
          <a:xfrm>
            <a:off x="812800" y="1920180"/>
            <a:ext cx="10566400" cy="3106738"/>
          </a:xfrm>
          <a:prstGeom prst="rect">
            <a:avLst/>
          </a:prstGeom>
          <a:solidFill>
            <a:srgbClr val="FDFCF9"/>
          </a:solidFill>
          <a:ln/>
        </p:spPr>
      </p:sp>
      <p:sp>
        <p:nvSpPr>
          <p:cNvPr id="5" name="Shape 3"/>
          <p:cNvSpPr/>
          <p:nvPr/>
        </p:nvSpPr>
        <p:spPr>
          <a:xfrm>
            <a:off x="11376025" y="1920180"/>
            <a:ext cx="0" cy="3106738"/>
          </a:xfrm>
          <a:prstGeom prst="line">
            <a:avLst/>
          </a:prstGeom>
          <a:noFill/>
          <a:ln w="6350">
            <a:solidFill>
              <a:srgbClr val="D9D6CC"/>
            </a:solidFill>
            <a:prstDash val="solid"/>
          </a:ln>
        </p:spPr>
      </p:sp>
      <p:sp>
        <p:nvSpPr>
          <p:cNvPr id="6" name="Shape 4"/>
          <p:cNvSpPr/>
          <p:nvPr/>
        </p:nvSpPr>
        <p:spPr>
          <a:xfrm>
            <a:off x="812800" y="5023743"/>
            <a:ext cx="10566400" cy="0"/>
          </a:xfrm>
          <a:prstGeom prst="line">
            <a:avLst/>
          </a:prstGeom>
          <a:noFill/>
          <a:ln w="6350">
            <a:solidFill>
              <a:srgbClr val="D9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32880"/>
          <a:ext cx="10547350" cy="3087688"/>
        </p:xfrm>
        <a:graphic>
          <a:graphicData uri="http://schemas.openxmlformats.org/drawingml/2006/table">
            <a:tbl>
              <a:tblPr/>
              <a:tblGrid>
                <a:gridCol w="2531364"/>
                <a:gridCol w="8015986"/>
              </a:tblGrid>
              <a:tr h="385961">
                <a:tc>
                  <a:txBody>
                    <a:bodyPr/>
                    <a:lstStyle/>
                    <a:p>
                      <a:pP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구분</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960"/>
                        </a:lnSpc>
                        <a:buNone/>
                      </a:pPr>
                      <a:r>
                        <a:rPr lang="en-US" sz="1400" b="1" dirty="0">
                          <a:solidFill>
                            <a:srgbClr val="1B2433"/>
                          </a:solidFill>
                          <a:latin typeface="IBM Plex Sans KR" pitchFamily="34" charset="0"/>
                          <a:ea typeface="IBM Plex Sans KR" pitchFamily="34" charset="-122"/>
                          <a:cs typeface="IBM Plex Sans KR" pitchFamily="34" charset="-120"/>
                        </a:rPr>
                        <a:t>도구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언어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Python 3.12</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비교·분석</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difflib, hashlib, rapidfuzz(유사도), pathspec(제외 규칙)</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문서 추출</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olefile(hwp), python-docx, charset-normalizer(인코딩)</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LLM</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Gemini Flash 무료 티어 · 예비: Groq, Ollama(로컬)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출력 검증·리포트</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pydantic(JSON 형식 검증), jinja2(HTML), Streamlit(웹 UI)</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개발 도구</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VS Code, Claude Code, GitHub</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하드웨어</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960"/>
                        </a:lnSpc>
                        <a:buNone/>
                      </a:pPr>
                      <a:r>
                        <a:rPr lang="en-US" sz="1400" dirty="0">
                          <a:solidFill>
                            <a:srgbClr val="1B2433"/>
                          </a:solidFill>
                          <a:latin typeface="IBM Plex Sans KR" pitchFamily="34" charset="0"/>
                          <a:ea typeface="IBM Plex Sans KR" pitchFamily="34" charset="-122"/>
                          <a:cs typeface="IBM Plex Sans KR" pitchFamily="34" charset="-120"/>
                        </a:rPr>
                        <a:t>개인 노트북 (모델 학습이 없어 GPU 불필요)</a:t>
                      </a:r>
                      <a:endParaRPr lang="en-US" sz="1400" dirty="0">
                        <a:latin typeface="IBM Plex Sans KR" charset="0"/>
                        <a:ea typeface="IBM Plex Sans KR" charset="0"/>
                        <a:cs typeface="IBM Plex Sans KR" charset="0"/>
                      </a:endParaRPr>
                    </a:p>
                  </a:txBody>
                  <a:tcPr marL="62230" marR="62230" marT="62230" marB="6223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Text 5"/>
          <p:cNvSpPr/>
          <p:nvPr/>
        </p:nvSpPr>
        <p:spPr>
          <a:xfrm>
            <a:off x="812800" y="5331718"/>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KR" pitchFamily="34" charset="0"/>
                <a:ea typeface="IBM Plex Sans KR" pitchFamily="34" charset="-122"/>
                <a:cs typeface="IBM Plex Sans KR" pitchFamily="34" charset="-120"/>
              </a:rPr>
              <a:t>LLM 호출부를 분리해 설정만 바꾸면 모델 교체 가능 · 개발 중에는 가짜 응답(mock)으로 비용 없이 테스트</a:t>
            </a:r>
            <a:endParaRPr lang="en-US" sz="13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3.1 프로젝트 일정표</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10/26 ~ 11/20 일정과 마일스톤</a:t>
            </a:r>
            <a:endParaRPr lang="en-US" sz="3200" dirty="0"/>
          </a:p>
        </p:txBody>
      </p:sp>
      <p:sp>
        <p:nvSpPr>
          <p:cNvPr id="4" name="Text 2"/>
          <p:cNvSpPr/>
          <p:nvPr/>
        </p:nvSpPr>
        <p:spPr>
          <a:xfrm>
            <a:off x="33909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D1A"/>
                </a:solidFill>
                <a:latin typeface="IBM Plex Sans KR" pitchFamily="34" charset="0"/>
                <a:ea typeface="IBM Plex Sans KR" pitchFamily="34" charset="-122"/>
                <a:cs typeface="IBM Plex Sans KR" pitchFamily="34" charset="-120"/>
              </a:rPr>
              <a:t>10/26</a:t>
            </a:r>
            <a:endParaRPr lang="en-US" sz="1200" dirty="0"/>
          </a:p>
        </p:txBody>
      </p:sp>
      <p:sp>
        <p:nvSpPr>
          <p:cNvPr id="5" name="Text 3"/>
          <p:cNvSpPr/>
          <p:nvPr/>
        </p:nvSpPr>
        <p:spPr>
          <a:xfrm>
            <a:off x="43942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10/29</a:t>
            </a:r>
            <a:endParaRPr lang="en-US" sz="1200" dirty="0"/>
          </a:p>
        </p:txBody>
      </p:sp>
      <p:sp>
        <p:nvSpPr>
          <p:cNvPr id="6" name="Text 4"/>
          <p:cNvSpPr/>
          <p:nvPr/>
        </p:nvSpPr>
        <p:spPr>
          <a:xfrm>
            <a:off x="53975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11/2</a:t>
            </a:r>
            <a:endParaRPr lang="en-US" sz="1200" dirty="0"/>
          </a:p>
        </p:txBody>
      </p:sp>
      <p:sp>
        <p:nvSpPr>
          <p:cNvPr id="7" name="Text 5"/>
          <p:cNvSpPr/>
          <p:nvPr/>
        </p:nvSpPr>
        <p:spPr>
          <a:xfrm>
            <a:off x="64008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11/5</a:t>
            </a:r>
            <a:endParaRPr lang="en-US" sz="1200" dirty="0"/>
          </a:p>
        </p:txBody>
      </p:sp>
      <p:sp>
        <p:nvSpPr>
          <p:cNvPr id="8" name="Text 6"/>
          <p:cNvSpPr/>
          <p:nvPr/>
        </p:nvSpPr>
        <p:spPr>
          <a:xfrm>
            <a:off x="74041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D1A"/>
                </a:solidFill>
                <a:latin typeface="IBM Plex Sans KR" pitchFamily="34" charset="0"/>
                <a:ea typeface="IBM Plex Sans KR" pitchFamily="34" charset="-122"/>
                <a:cs typeface="IBM Plex Sans KR" pitchFamily="34" charset="-120"/>
              </a:rPr>
              <a:t>11/9</a:t>
            </a:r>
            <a:endParaRPr lang="en-US" sz="1200" dirty="0"/>
          </a:p>
        </p:txBody>
      </p:sp>
      <p:sp>
        <p:nvSpPr>
          <p:cNvPr id="9" name="Text 7"/>
          <p:cNvSpPr/>
          <p:nvPr/>
        </p:nvSpPr>
        <p:spPr>
          <a:xfrm>
            <a:off x="84074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11/12</a:t>
            </a:r>
            <a:endParaRPr lang="en-US" sz="1200" dirty="0"/>
          </a:p>
        </p:txBody>
      </p:sp>
      <p:sp>
        <p:nvSpPr>
          <p:cNvPr id="10" name="Text 8"/>
          <p:cNvSpPr/>
          <p:nvPr/>
        </p:nvSpPr>
        <p:spPr>
          <a:xfrm>
            <a:off x="94107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11/16</a:t>
            </a:r>
            <a:endParaRPr lang="en-US" sz="1200" dirty="0"/>
          </a:p>
        </p:txBody>
      </p:sp>
      <p:sp>
        <p:nvSpPr>
          <p:cNvPr id="11" name="Text 9"/>
          <p:cNvSpPr/>
          <p:nvPr/>
        </p:nvSpPr>
        <p:spPr>
          <a:xfrm>
            <a:off x="10414000" y="1869380"/>
            <a:ext cx="9906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4D1A"/>
                </a:solidFill>
                <a:latin typeface="IBM Plex Sans KR" pitchFamily="34" charset="0"/>
                <a:ea typeface="IBM Plex Sans KR" pitchFamily="34" charset="-122"/>
                <a:cs typeface="IBM Plex Sans KR" pitchFamily="34" charset="-120"/>
              </a:rPr>
              <a:t>11/19</a:t>
            </a:r>
            <a:endParaRPr lang="en-US" sz="1200" dirty="0"/>
          </a:p>
        </p:txBody>
      </p:sp>
      <p:sp>
        <p:nvSpPr>
          <p:cNvPr id="12" name="Text 10"/>
          <p:cNvSpPr/>
          <p:nvPr/>
        </p:nvSpPr>
        <p:spPr>
          <a:xfrm>
            <a:off x="812800" y="2188071"/>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환경 구축 · 데이터 수집</a:t>
            </a:r>
            <a:endParaRPr lang="en-US" sz="1300" dirty="0"/>
          </a:p>
        </p:txBody>
      </p:sp>
      <p:sp>
        <p:nvSpPr>
          <p:cNvPr id="13" name="Text 11"/>
          <p:cNvSpPr/>
          <p:nvPr/>
        </p:nvSpPr>
        <p:spPr>
          <a:xfrm>
            <a:off x="3416300" y="2146201"/>
            <a:ext cx="939800" cy="314920"/>
          </a:xfrm>
          <a:custGeom>
            <a:avLst/>
            <a:gdLst/>
            <a:ahLst/>
            <a:cxnLst/>
            <a:rect l="l" t="t" r="r" b="b"/>
            <a:pathLst>
              <a:path w="939800" h="314920">
                <a:moveTo>
                  <a:pt x="50800" y="0"/>
                </a:moveTo>
                <a:lnTo>
                  <a:pt x="889000" y="0"/>
                </a:lnTo>
                <a:arcTo hR="50800" wR="50800" stAng="16200000" swAng="5400000"/>
                <a:lnTo>
                  <a:pt x="939800" y="264120"/>
                </a:lnTo>
                <a:arcTo hR="50800" wR="50800" stAng="0" swAng="5400000"/>
                <a:lnTo>
                  <a:pt x="50800" y="314920"/>
                </a:lnTo>
                <a:arcTo hR="50800" wR="50800" stAng="5400000" swAng="5400000"/>
                <a:lnTo>
                  <a:pt x="0" y="50800"/>
                </a:lnTo>
                <a:arcTo hR="50800" wR="50800" stAng="10800000" swAng="5400000"/>
                <a:close/>
              </a:path>
            </a:pathLst>
          </a:custGeom>
          <a:solidFill>
            <a:srgbClr val="2F5FB3"/>
          </a:solidFill>
          <a:ln/>
        </p:spPr>
        <p:txBody>
          <a:bodyPr wrap="square" lIns="25400" tIns="50800" rIns="25400"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준비</a:t>
            </a:r>
            <a:endParaRPr lang="en-US" sz="1200" dirty="0"/>
          </a:p>
        </p:txBody>
      </p:sp>
      <p:sp>
        <p:nvSpPr>
          <p:cNvPr id="14" name="Text 12"/>
          <p:cNvSpPr/>
          <p:nvPr/>
        </p:nvSpPr>
        <p:spPr>
          <a:xfrm>
            <a:off x="812800" y="2566491"/>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비교 엔진 · 문서 추출</a:t>
            </a:r>
            <a:endParaRPr lang="en-US" sz="1300" dirty="0"/>
          </a:p>
        </p:txBody>
      </p:sp>
      <p:sp>
        <p:nvSpPr>
          <p:cNvPr id="15" name="Text 13"/>
          <p:cNvSpPr/>
          <p:nvPr/>
        </p:nvSpPr>
        <p:spPr>
          <a:xfrm>
            <a:off x="4419600" y="2524621"/>
            <a:ext cx="1943100" cy="314920"/>
          </a:xfrm>
          <a:custGeom>
            <a:avLst/>
            <a:gdLst/>
            <a:ahLst/>
            <a:cxnLst/>
            <a:rect l="l" t="t" r="r" b="b"/>
            <a:pathLst>
              <a:path w="1943100" h="314920">
                <a:moveTo>
                  <a:pt x="50800" y="0"/>
                </a:moveTo>
                <a:lnTo>
                  <a:pt x="1892300" y="0"/>
                </a:lnTo>
                <a:arcTo hR="50800" wR="50800" stAng="16200000" swAng="5400000"/>
                <a:lnTo>
                  <a:pt x="1943100" y="264120"/>
                </a:lnTo>
                <a:arcTo hR="50800" wR="50800" stAng="0" swAng="5400000"/>
                <a:lnTo>
                  <a:pt x="50800" y="314920"/>
                </a:lnTo>
                <a:arcTo hR="50800" wR="50800" stAng="5400000" swAng="5400000"/>
                <a:lnTo>
                  <a:pt x="0" y="50800"/>
                </a:lnTo>
                <a:arcTo hR="50800" wR="50800" stAng="10800000" swAng="5400000"/>
                <a:close/>
              </a:path>
            </a:pathLst>
          </a:custGeom>
          <a:solidFill>
            <a:srgbClr val="2F5FB3"/>
          </a:solidFill>
          <a:ln/>
        </p:spPr>
        <p:txBody>
          <a:bodyPr wrap="square" lIns="23178" tIns="50800" rIns="23178"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분류 · 이동 감지</a:t>
            </a:r>
            <a:endParaRPr lang="en-US" sz="1200" dirty="0"/>
          </a:p>
        </p:txBody>
      </p:sp>
      <p:sp>
        <p:nvSpPr>
          <p:cNvPr id="16" name="Text 14"/>
          <p:cNvSpPr/>
          <p:nvPr/>
        </p:nvSpPr>
        <p:spPr>
          <a:xfrm>
            <a:off x="812800" y="2944912"/>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LLM 파일별 요약 · JSON</a:t>
            </a:r>
            <a:endParaRPr lang="en-US" sz="1300" dirty="0"/>
          </a:p>
        </p:txBody>
      </p:sp>
      <p:sp>
        <p:nvSpPr>
          <p:cNvPr id="17" name="Text 15"/>
          <p:cNvSpPr/>
          <p:nvPr/>
        </p:nvSpPr>
        <p:spPr>
          <a:xfrm>
            <a:off x="5422900" y="2903041"/>
            <a:ext cx="1943100" cy="314920"/>
          </a:xfrm>
          <a:custGeom>
            <a:avLst/>
            <a:gdLst/>
            <a:ahLst/>
            <a:cxnLst/>
            <a:rect l="l" t="t" r="r" b="b"/>
            <a:pathLst>
              <a:path w="1943100" h="314920">
                <a:moveTo>
                  <a:pt x="50800" y="0"/>
                </a:moveTo>
                <a:lnTo>
                  <a:pt x="1892300" y="0"/>
                </a:lnTo>
                <a:arcTo hR="50800" wR="50800" stAng="16200000" swAng="5400000"/>
                <a:lnTo>
                  <a:pt x="1943100" y="264120"/>
                </a:lnTo>
                <a:arcTo hR="50800" wR="50800" stAng="0" swAng="5400000"/>
                <a:lnTo>
                  <a:pt x="50800" y="314920"/>
                </a:lnTo>
                <a:arcTo hR="50800" wR="50800" stAng="5400000" swAng="5400000"/>
                <a:lnTo>
                  <a:pt x="0" y="50800"/>
                </a:lnTo>
                <a:arcTo hR="50800" wR="50800" stAng="10800000" swAng="5400000"/>
                <a:close/>
              </a:path>
            </a:pathLst>
          </a:custGeom>
          <a:solidFill>
            <a:srgbClr val="B44D1A"/>
          </a:solidFill>
          <a:ln/>
        </p:spPr>
        <p:txBody>
          <a:bodyPr wrap="square" lIns="23178" tIns="50800" rIns="23178"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요약 생성</a:t>
            </a:r>
            <a:endParaRPr lang="en-US" sz="1200" dirty="0"/>
          </a:p>
        </p:txBody>
      </p:sp>
      <p:sp>
        <p:nvSpPr>
          <p:cNvPr id="18" name="Text 16"/>
          <p:cNvSpPr/>
          <p:nvPr/>
        </p:nvSpPr>
        <p:spPr>
          <a:xfrm>
            <a:off x="812800" y="3323332"/>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근거 검증 · HTML 리포트</a:t>
            </a:r>
            <a:endParaRPr lang="en-US" sz="1300" dirty="0"/>
          </a:p>
        </p:txBody>
      </p:sp>
      <p:sp>
        <p:nvSpPr>
          <p:cNvPr id="19" name="Text 17"/>
          <p:cNvSpPr/>
          <p:nvPr/>
        </p:nvSpPr>
        <p:spPr>
          <a:xfrm>
            <a:off x="6426200" y="3281462"/>
            <a:ext cx="1943100" cy="314920"/>
          </a:xfrm>
          <a:custGeom>
            <a:avLst/>
            <a:gdLst/>
            <a:ahLst/>
            <a:cxnLst/>
            <a:rect l="l" t="t" r="r" b="b"/>
            <a:pathLst>
              <a:path w="1943100" h="314920">
                <a:moveTo>
                  <a:pt x="50800" y="0"/>
                </a:moveTo>
                <a:lnTo>
                  <a:pt x="1892300" y="0"/>
                </a:lnTo>
                <a:arcTo hR="50800" wR="50800" stAng="16200000" swAng="5400000"/>
                <a:lnTo>
                  <a:pt x="1943100" y="264120"/>
                </a:lnTo>
                <a:arcTo hR="50800" wR="50800" stAng="0" swAng="5400000"/>
                <a:lnTo>
                  <a:pt x="50800" y="314920"/>
                </a:lnTo>
                <a:arcTo hR="50800" wR="50800" stAng="5400000" swAng="5400000"/>
                <a:lnTo>
                  <a:pt x="0" y="50800"/>
                </a:lnTo>
                <a:arcTo hR="50800" wR="50800" stAng="10800000" swAng="5400000"/>
                <a:close/>
              </a:path>
            </a:pathLst>
          </a:custGeom>
          <a:solidFill>
            <a:srgbClr val="1B2433"/>
          </a:solidFill>
          <a:ln/>
        </p:spPr>
        <p:txBody>
          <a:bodyPr wrap="square" lIns="23178" tIns="50800" rIns="23178"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MVP · 60%</a:t>
            </a:r>
            <a:endParaRPr lang="en-US" sz="1200" dirty="0"/>
          </a:p>
        </p:txBody>
      </p:sp>
      <p:sp>
        <p:nvSpPr>
          <p:cNvPr id="20" name="Text 18"/>
          <p:cNvSpPr/>
          <p:nvPr/>
        </p:nvSpPr>
        <p:spPr>
          <a:xfrm>
            <a:off x="812800" y="3701752"/>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계층 요약 · 비개발자 리포트</a:t>
            </a:r>
            <a:endParaRPr lang="en-US" sz="1300" dirty="0"/>
          </a:p>
        </p:txBody>
      </p:sp>
      <p:sp>
        <p:nvSpPr>
          <p:cNvPr id="21" name="Text 19"/>
          <p:cNvSpPr/>
          <p:nvPr/>
        </p:nvSpPr>
        <p:spPr>
          <a:xfrm>
            <a:off x="7429500" y="3659882"/>
            <a:ext cx="1943100" cy="314920"/>
          </a:xfrm>
          <a:custGeom>
            <a:avLst/>
            <a:gdLst/>
            <a:ahLst/>
            <a:cxnLst/>
            <a:rect l="l" t="t" r="r" b="b"/>
            <a:pathLst>
              <a:path w="1943100" h="314920">
                <a:moveTo>
                  <a:pt x="50800" y="0"/>
                </a:moveTo>
                <a:lnTo>
                  <a:pt x="1892300" y="0"/>
                </a:lnTo>
                <a:arcTo hR="50800" wR="50800" stAng="16200000" swAng="5400000"/>
                <a:lnTo>
                  <a:pt x="1943100" y="264120"/>
                </a:lnTo>
                <a:arcTo hR="50800" wR="50800" stAng="0" swAng="5400000"/>
                <a:lnTo>
                  <a:pt x="50800" y="314920"/>
                </a:lnTo>
                <a:arcTo hR="50800" wR="50800" stAng="5400000" swAng="5400000"/>
                <a:lnTo>
                  <a:pt x="0" y="50800"/>
                </a:lnTo>
                <a:arcTo hR="50800" wR="50800" stAng="10800000" swAng="5400000"/>
                <a:close/>
              </a:path>
            </a:pathLst>
          </a:custGeom>
          <a:solidFill>
            <a:srgbClr val="B44D1A"/>
          </a:solidFill>
          <a:ln/>
        </p:spPr>
        <p:txBody>
          <a:bodyPr wrap="square" lIns="23178" tIns="50800" rIns="23178"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기능 확장</a:t>
            </a:r>
            <a:endParaRPr lang="en-US" sz="1200" dirty="0"/>
          </a:p>
        </p:txBody>
      </p:sp>
      <p:sp>
        <p:nvSpPr>
          <p:cNvPr id="22" name="Text 20"/>
          <p:cNvSpPr/>
          <p:nvPr/>
        </p:nvSpPr>
        <p:spPr>
          <a:xfrm>
            <a:off x="812800" y="4080173"/>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웹 UI · 평가 실험</a:t>
            </a:r>
            <a:endParaRPr lang="en-US" sz="1300" dirty="0"/>
          </a:p>
        </p:txBody>
      </p:sp>
      <p:sp>
        <p:nvSpPr>
          <p:cNvPr id="23" name="Text 21"/>
          <p:cNvSpPr/>
          <p:nvPr/>
        </p:nvSpPr>
        <p:spPr>
          <a:xfrm>
            <a:off x="8432800" y="4038302"/>
            <a:ext cx="1943100" cy="314920"/>
          </a:xfrm>
          <a:custGeom>
            <a:avLst/>
            <a:gdLst/>
            <a:ahLst/>
            <a:cxnLst/>
            <a:rect l="l" t="t" r="r" b="b"/>
            <a:pathLst>
              <a:path w="1943100" h="314920">
                <a:moveTo>
                  <a:pt x="50800" y="0"/>
                </a:moveTo>
                <a:lnTo>
                  <a:pt x="1892300" y="0"/>
                </a:lnTo>
                <a:arcTo hR="50800" wR="50800" stAng="16200000" swAng="5400000"/>
                <a:lnTo>
                  <a:pt x="1943100" y="264120"/>
                </a:lnTo>
                <a:arcTo hR="50800" wR="50800" stAng="0" swAng="5400000"/>
                <a:lnTo>
                  <a:pt x="50800" y="314920"/>
                </a:lnTo>
                <a:arcTo hR="50800" wR="50800" stAng="5400000" swAng="5400000"/>
                <a:lnTo>
                  <a:pt x="0" y="50800"/>
                </a:lnTo>
                <a:arcTo hR="50800" wR="50800" stAng="10800000" swAng="5400000"/>
                <a:close/>
              </a:path>
            </a:pathLst>
          </a:custGeom>
          <a:solidFill>
            <a:srgbClr val="2F5FB3"/>
          </a:solidFill>
          <a:ln/>
        </p:spPr>
        <p:txBody>
          <a:bodyPr wrap="square" lIns="23178" tIns="50800" rIns="23178"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UI · 평가</a:t>
            </a:r>
            <a:endParaRPr lang="en-US" sz="1200" dirty="0"/>
          </a:p>
        </p:txBody>
      </p:sp>
      <p:sp>
        <p:nvSpPr>
          <p:cNvPr id="24" name="Text 22"/>
          <p:cNvSpPr/>
          <p:nvPr/>
        </p:nvSpPr>
        <p:spPr>
          <a:xfrm>
            <a:off x="812800" y="4458593"/>
            <a:ext cx="2616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개선 · 최종 정리</a:t>
            </a:r>
            <a:endParaRPr lang="en-US" sz="1300" dirty="0"/>
          </a:p>
        </p:txBody>
      </p:sp>
      <p:sp>
        <p:nvSpPr>
          <p:cNvPr id="25" name="Text 23"/>
          <p:cNvSpPr/>
          <p:nvPr/>
        </p:nvSpPr>
        <p:spPr>
          <a:xfrm>
            <a:off x="10439400" y="4416723"/>
            <a:ext cx="939800" cy="314920"/>
          </a:xfrm>
          <a:custGeom>
            <a:avLst/>
            <a:gdLst/>
            <a:ahLst/>
            <a:cxnLst/>
            <a:rect l="l" t="t" r="r" b="b"/>
            <a:pathLst>
              <a:path w="939800" h="314920">
                <a:moveTo>
                  <a:pt x="50800" y="0"/>
                </a:moveTo>
                <a:lnTo>
                  <a:pt x="889000" y="0"/>
                </a:lnTo>
                <a:arcTo hR="50800" wR="50800" stAng="16200000" swAng="5400000"/>
                <a:lnTo>
                  <a:pt x="939800" y="264120"/>
                </a:lnTo>
                <a:arcTo hR="50800" wR="50800" stAng="0" swAng="5400000"/>
                <a:lnTo>
                  <a:pt x="50800" y="314920"/>
                </a:lnTo>
                <a:arcTo hR="50800" wR="50800" stAng="5400000" swAng="5400000"/>
                <a:lnTo>
                  <a:pt x="0" y="50800"/>
                </a:lnTo>
                <a:arcTo hR="50800" wR="50800" stAng="10800000" swAng="5400000"/>
                <a:close/>
              </a:path>
            </a:pathLst>
          </a:custGeom>
          <a:solidFill>
            <a:srgbClr val="1B2433"/>
          </a:solidFill>
          <a:ln/>
        </p:spPr>
        <p:txBody>
          <a:bodyPr wrap="square" lIns="25400" tIns="50800" rIns="25400" bIns="25400" rtlCol="0" anchor="t">
            <a:normAutofit/>
          </a:bodyPr>
          <a:lstStyle/>
          <a:p>
            <a:pPr algn="ctr" indent="0" marL="0">
              <a:lnSpc>
                <a:spcPts val="1680"/>
              </a:lnSpc>
              <a:buNone/>
            </a:pPr>
            <a:r>
              <a:rPr lang="en-US" sz="1200" dirty="0">
                <a:solidFill>
                  <a:srgbClr val="FDFCF9"/>
                </a:solidFill>
                <a:latin typeface="IBM Plex Sans KR" pitchFamily="34" charset="0"/>
                <a:ea typeface="IBM Plex Sans KR" pitchFamily="34" charset="-122"/>
                <a:cs typeface="IBM Plex Sans KR" pitchFamily="34" charset="-120"/>
              </a:rPr>
              <a:t>100%</a:t>
            </a:r>
            <a:endParaRPr lang="en-US" sz="1200" dirty="0"/>
          </a:p>
        </p:txBody>
      </p:sp>
      <p:sp>
        <p:nvSpPr>
          <p:cNvPr id="26" name="Shape 24"/>
          <p:cNvSpPr/>
          <p:nvPr/>
        </p:nvSpPr>
        <p:spPr>
          <a:xfrm>
            <a:off x="815975" y="4988818"/>
            <a:ext cx="3418384" cy="466030"/>
          </a:xfrm>
          <a:prstGeom prst="roundRect">
            <a:avLst>
              <a:gd name="adj" fmla="val 15670"/>
            </a:avLst>
          </a:prstGeom>
          <a:solidFill>
            <a:srgbClr val="FDFCF9"/>
          </a:solidFill>
          <a:ln w="6350">
            <a:solidFill>
              <a:srgbClr val="D9D6CC"/>
            </a:solidFill>
            <a:prstDash val="solid"/>
          </a:ln>
        </p:spPr>
      </p:sp>
      <p:sp>
        <p:nvSpPr>
          <p:cNvPr id="27" name="Text 25"/>
          <p:cNvSpPr/>
          <p:nvPr/>
        </p:nvSpPr>
        <p:spPr>
          <a:xfrm>
            <a:off x="996950" y="5106293"/>
            <a:ext cx="56673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4D1A"/>
                </a:solidFill>
                <a:latin typeface="IBM Plex Sans KR" pitchFamily="34" charset="0"/>
                <a:ea typeface="IBM Plex Sans KR" pitchFamily="34" charset="-122"/>
                <a:cs typeface="IBM Plex Sans KR" pitchFamily="34" charset="-120"/>
              </a:rPr>
              <a:t>10/26</a:t>
            </a:r>
            <a:endParaRPr lang="en-US" sz="1300" dirty="0"/>
          </a:p>
        </p:txBody>
      </p:sp>
      <p:sp>
        <p:nvSpPr>
          <p:cNvPr id="28" name="Text 26"/>
          <p:cNvSpPr/>
          <p:nvPr/>
        </p:nvSpPr>
        <p:spPr>
          <a:xfrm>
            <a:off x="1570831" y="5115123"/>
            <a:ext cx="6956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기획 발표</a:t>
            </a:r>
            <a:endParaRPr lang="en-US" sz="1200" dirty="0"/>
          </a:p>
        </p:txBody>
      </p:sp>
      <p:sp>
        <p:nvSpPr>
          <p:cNvPr id="29" name="Shape 27"/>
          <p:cNvSpPr/>
          <p:nvPr/>
        </p:nvSpPr>
        <p:spPr>
          <a:xfrm>
            <a:off x="4393109" y="4988818"/>
            <a:ext cx="3418483" cy="466030"/>
          </a:xfrm>
          <a:prstGeom prst="roundRect">
            <a:avLst>
              <a:gd name="adj" fmla="val 15670"/>
            </a:avLst>
          </a:prstGeom>
          <a:solidFill>
            <a:srgbClr val="FBEFE6"/>
          </a:solidFill>
          <a:ln w="6350">
            <a:solidFill>
              <a:srgbClr val="E8C9B3"/>
            </a:solidFill>
            <a:prstDash val="solid"/>
          </a:ln>
        </p:spPr>
      </p:sp>
      <p:sp>
        <p:nvSpPr>
          <p:cNvPr id="30" name="Text 28"/>
          <p:cNvSpPr/>
          <p:nvPr/>
        </p:nvSpPr>
        <p:spPr>
          <a:xfrm>
            <a:off x="4574084" y="5106293"/>
            <a:ext cx="44779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4D1A"/>
                </a:solidFill>
                <a:latin typeface="IBM Plex Sans KR" pitchFamily="34" charset="0"/>
                <a:ea typeface="IBM Plex Sans KR" pitchFamily="34" charset="-122"/>
                <a:cs typeface="IBM Plex Sans KR" pitchFamily="34" charset="-120"/>
              </a:rPr>
              <a:t>11/9</a:t>
            </a:r>
            <a:endParaRPr lang="en-US" sz="1300" dirty="0"/>
          </a:p>
        </p:txBody>
      </p:sp>
      <p:sp>
        <p:nvSpPr>
          <p:cNvPr id="31" name="Text 29"/>
          <p:cNvSpPr/>
          <p:nvPr/>
        </p:nvSpPr>
        <p:spPr>
          <a:xfrm>
            <a:off x="5048845" y="5115123"/>
            <a:ext cx="27595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3"/>
                </a:solidFill>
                <a:latin typeface="IBM Plex Sans KR" pitchFamily="34" charset="0"/>
                <a:ea typeface="IBM Plex Sans KR" pitchFamily="34" charset="-122"/>
                <a:cs typeface="IBM Plex Sans KR" pitchFamily="34" charset="-120"/>
              </a:rPr>
              <a:t>중간보고 · 핵심 기능 60% (MVP 시연)</a:t>
            </a:r>
            <a:endParaRPr lang="en-US" sz="1200" dirty="0"/>
          </a:p>
        </p:txBody>
      </p:sp>
      <p:sp>
        <p:nvSpPr>
          <p:cNvPr id="32" name="Shape 30"/>
          <p:cNvSpPr/>
          <p:nvPr/>
        </p:nvSpPr>
        <p:spPr>
          <a:xfrm>
            <a:off x="7967166" y="4985643"/>
            <a:ext cx="3412034" cy="472380"/>
          </a:xfrm>
          <a:prstGeom prst="roundRect">
            <a:avLst>
              <a:gd name="adj" fmla="val 16131"/>
            </a:avLst>
          </a:prstGeom>
          <a:solidFill>
            <a:srgbClr val="1B2433"/>
          </a:solidFill>
          <a:ln/>
        </p:spPr>
      </p:sp>
      <p:sp>
        <p:nvSpPr>
          <p:cNvPr id="33" name="Text 31"/>
          <p:cNvSpPr/>
          <p:nvPr/>
        </p:nvSpPr>
        <p:spPr>
          <a:xfrm>
            <a:off x="8144966" y="5106293"/>
            <a:ext cx="56673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A06B"/>
                </a:solidFill>
                <a:latin typeface="IBM Plex Sans KR" pitchFamily="34" charset="0"/>
                <a:ea typeface="IBM Plex Sans KR" pitchFamily="34" charset="-122"/>
                <a:cs typeface="IBM Plex Sans KR" pitchFamily="34" charset="-120"/>
              </a:rPr>
              <a:t>11/20</a:t>
            </a:r>
            <a:endParaRPr lang="en-US" sz="1300" dirty="0"/>
          </a:p>
        </p:txBody>
      </p:sp>
      <p:sp>
        <p:nvSpPr>
          <p:cNvPr id="34" name="Text 32"/>
          <p:cNvSpPr/>
          <p:nvPr/>
        </p:nvSpPr>
        <p:spPr>
          <a:xfrm>
            <a:off x="8718848" y="5115123"/>
            <a:ext cx="1237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6F2"/>
                </a:solidFill>
                <a:latin typeface="IBM Plex Sans KR" pitchFamily="34" charset="0"/>
                <a:ea typeface="IBM Plex Sans KR" pitchFamily="34" charset="-122"/>
                <a:cs typeface="IBM Plex Sans KR" pitchFamily="34" charset="-120"/>
              </a:rPr>
              <a:t>기능 100% 완성</a:t>
            </a:r>
            <a:endParaRPr lang="en-US" sz="1200" dirty="0"/>
          </a:p>
        </p:txBody>
      </p:sp>
      <p:sp>
        <p:nvSpPr>
          <p:cNvPr id="35"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3.2 팀 역할 분담</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조장 중심 개발, 조원은 검수와 지원</a:t>
            </a:r>
            <a:endParaRPr lang="en-US" sz="3200" dirty="0"/>
          </a:p>
        </p:txBody>
      </p:sp>
      <p:sp>
        <p:nvSpPr>
          <p:cNvPr id="4" name="Shape 2"/>
          <p:cNvSpPr/>
          <p:nvPr/>
        </p:nvSpPr>
        <p:spPr>
          <a:xfrm>
            <a:off x="815975" y="1897955"/>
            <a:ext cx="3940373" cy="3351411"/>
          </a:xfrm>
          <a:prstGeom prst="roundRect">
            <a:avLst>
              <a:gd name="adj" fmla="val 2937"/>
            </a:avLst>
          </a:prstGeom>
          <a:solidFill>
            <a:srgbClr val="FDFCF9"/>
          </a:solidFill>
          <a:ln w="6350">
            <a:solidFill>
              <a:srgbClr val="D9D6CC"/>
            </a:solidFill>
            <a:prstDash val="solid"/>
          </a:ln>
        </p:spPr>
      </p:sp>
      <p:pic>
        <p:nvPicPr>
          <p:cNvPr id="5" name="Image 0" descr="Star">    </p:cNvPr>
          <p:cNvPicPr>
            <a:picLocks noChangeAspect="1"/>
          </p:cNvPicPr>
          <p:nvPr/>
        </p:nvPicPr>
        <p:blipFill>
          <a:blip r:embed="rId1"/>
          <a:srcRect l="0" r="0" t="0" b="0"/>
          <a:stretch/>
        </p:blipFill>
        <p:spPr>
          <a:xfrm>
            <a:off x="1073150" y="2155130"/>
            <a:ext cx="304800" cy="304800"/>
          </a:xfrm>
          <a:prstGeom prst="rect">
            <a:avLst/>
          </a:prstGeom>
        </p:spPr>
      </p:pic>
      <p:sp>
        <p:nvSpPr>
          <p:cNvPr id="6" name="Text 3"/>
          <p:cNvSpPr/>
          <p:nvPr/>
        </p:nvSpPr>
        <p:spPr>
          <a:xfrm>
            <a:off x="1073150" y="2574230"/>
            <a:ext cx="352880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433"/>
                </a:solidFill>
                <a:latin typeface="IBM Plex Sans KR" pitchFamily="34" charset="0"/>
                <a:ea typeface="IBM Plex Sans KR" pitchFamily="34" charset="-122"/>
                <a:cs typeface="IBM Plex Sans KR" pitchFamily="34" charset="-120"/>
              </a:rPr>
              <a:t>지용준</a:t>
            </a:r>
            <a:endParaRPr lang="en-US" sz="2000" dirty="0"/>
          </a:p>
        </p:txBody>
      </p:sp>
      <p:sp>
        <p:nvSpPr>
          <p:cNvPr id="7" name="Text 4"/>
          <p:cNvSpPr/>
          <p:nvPr/>
        </p:nvSpPr>
        <p:spPr>
          <a:xfrm>
            <a:off x="1073150" y="2993330"/>
            <a:ext cx="352880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B3"/>
                </a:solidFill>
                <a:latin typeface="IBM Plex Sans KR" pitchFamily="34" charset="0"/>
                <a:ea typeface="IBM Plex Sans KR" pitchFamily="34" charset="-122"/>
                <a:cs typeface="IBM Plex Sans KR" pitchFamily="34" charset="-120"/>
              </a:rPr>
              <a:t>조장 · 개발 총괄</a:t>
            </a:r>
            <a:endParaRPr lang="en-US" sz="1300" dirty="0"/>
          </a:p>
        </p:txBody>
      </p:sp>
      <p:sp>
        <p:nvSpPr>
          <p:cNvPr id="8" name="Text 5"/>
          <p:cNvSpPr/>
          <p:nvPr/>
        </p:nvSpPr>
        <p:spPr>
          <a:xfrm>
            <a:off x="1158494" y="3338711"/>
            <a:ext cx="3435840" cy="1346002"/>
          </a:xfrm>
          <a:prstGeom prst="rect">
            <a:avLst/>
          </a:prstGeom>
          <a:noFill/>
          <a:ln/>
        </p:spPr>
        <p:txBody>
          <a:bodyPr wrap="square" lIns="0" tIns="0" rIns="0" bIns="0" rtlCol="0" anchor="t">
            <a:normAutofit/>
          </a:bodyPr>
          <a:lstStyle/>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기획 · 전체 구조 설계</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비교 엔진 · 문서 추출</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LLM 요약 · 근거 검증 로직</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HTML 리포트 · 웹 UI</a:t>
            </a:r>
            <a:endParaRPr lang="en-US" sz="1300" dirty="0"/>
          </a:p>
          <a:p>
            <a:pPr algn="l" marL="168656" indent="-168656">
              <a:lnSpc>
                <a:spcPts val="2080"/>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평가 실험 · 문서 작성</a:t>
            </a:r>
            <a:endParaRPr lang="en-US" sz="1300" dirty="0"/>
          </a:p>
        </p:txBody>
      </p:sp>
      <p:sp>
        <p:nvSpPr>
          <p:cNvPr id="9" name="Shape 6"/>
          <p:cNvSpPr/>
          <p:nvPr/>
        </p:nvSpPr>
        <p:spPr>
          <a:xfrm>
            <a:off x="4915098" y="1897955"/>
            <a:ext cx="3151088" cy="1596330"/>
          </a:xfrm>
          <a:prstGeom prst="roundRect">
            <a:avLst>
              <a:gd name="adj" fmla="val 6166"/>
            </a:avLst>
          </a:prstGeom>
          <a:solidFill>
            <a:srgbClr val="FDFCF9"/>
          </a:solidFill>
          <a:ln w="6350">
            <a:solidFill>
              <a:srgbClr val="D9D6CC"/>
            </a:solidFill>
            <a:prstDash val="solid"/>
          </a:ln>
        </p:spPr>
      </p:sp>
      <p:pic>
        <p:nvPicPr>
          <p:cNvPr id="10" name="Image 1" descr="Chat">    </p:cNvPr>
          <p:cNvPicPr>
            <a:picLocks noChangeAspect="1"/>
          </p:cNvPicPr>
          <p:nvPr/>
        </p:nvPicPr>
        <p:blipFill>
          <a:blip r:embed="rId2"/>
          <a:srcRect l="0" r="0" t="0" b="0"/>
          <a:stretch/>
        </p:blipFill>
        <p:spPr>
          <a:xfrm>
            <a:off x="5121473" y="2104330"/>
            <a:ext cx="254000" cy="254000"/>
          </a:xfrm>
          <a:prstGeom prst="rect">
            <a:avLst/>
          </a:prstGeom>
        </p:spPr>
      </p:pic>
      <p:sp>
        <p:nvSpPr>
          <p:cNvPr id="11" name="Text 7"/>
          <p:cNvSpPr/>
          <p:nvPr/>
        </p:nvSpPr>
        <p:spPr>
          <a:xfrm>
            <a:off x="5121473" y="2434530"/>
            <a:ext cx="28204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나현준</a:t>
            </a:r>
            <a:endParaRPr lang="en-US" sz="1700" dirty="0"/>
          </a:p>
        </p:txBody>
      </p:sp>
      <p:sp>
        <p:nvSpPr>
          <p:cNvPr id="12" name="Text 8"/>
          <p:cNvSpPr/>
          <p:nvPr/>
        </p:nvSpPr>
        <p:spPr>
          <a:xfrm>
            <a:off x="5121473" y="2769791"/>
            <a:ext cx="28204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발표</a:t>
            </a:r>
            <a:endParaRPr lang="en-US" sz="1200" dirty="0"/>
          </a:p>
        </p:txBody>
      </p:sp>
      <p:sp>
        <p:nvSpPr>
          <p:cNvPr id="13" name="Text 9"/>
          <p:cNvSpPr/>
          <p:nvPr/>
        </p:nvSpPr>
        <p:spPr>
          <a:xfrm>
            <a:off x="5121473" y="3059311"/>
            <a:ext cx="282048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기획·중간·최종 발표 진행</a:t>
            </a:r>
            <a:endParaRPr lang="en-US" sz="1200" dirty="0"/>
          </a:p>
        </p:txBody>
      </p:sp>
      <p:sp>
        <p:nvSpPr>
          <p:cNvPr id="14" name="Shape 10"/>
          <p:cNvSpPr/>
          <p:nvPr/>
        </p:nvSpPr>
        <p:spPr>
          <a:xfrm>
            <a:off x="8224937" y="1897955"/>
            <a:ext cx="3151088" cy="1596330"/>
          </a:xfrm>
          <a:prstGeom prst="roundRect">
            <a:avLst>
              <a:gd name="adj" fmla="val 6166"/>
            </a:avLst>
          </a:prstGeom>
          <a:solidFill>
            <a:srgbClr val="FDFCF9"/>
          </a:solidFill>
          <a:ln w="6350">
            <a:solidFill>
              <a:srgbClr val="D9D6CC"/>
            </a:solidFill>
            <a:prstDash val="solid"/>
          </a:ln>
        </p:spPr>
      </p:sp>
      <p:pic>
        <p:nvPicPr>
          <p:cNvPr id="15" name="Image 2" descr="Database">    </p:cNvPr>
          <p:cNvPicPr>
            <a:picLocks noChangeAspect="1"/>
          </p:cNvPicPr>
          <p:nvPr/>
        </p:nvPicPr>
        <p:blipFill>
          <a:blip r:embed="rId3"/>
          <a:srcRect l="0" r="0" t="0" b="0"/>
          <a:stretch/>
        </p:blipFill>
        <p:spPr>
          <a:xfrm>
            <a:off x="8431312" y="2104330"/>
            <a:ext cx="254000" cy="254000"/>
          </a:xfrm>
          <a:prstGeom prst="rect">
            <a:avLst/>
          </a:prstGeom>
        </p:spPr>
      </p:pic>
      <p:sp>
        <p:nvSpPr>
          <p:cNvPr id="16" name="Text 11"/>
          <p:cNvSpPr/>
          <p:nvPr/>
        </p:nvSpPr>
        <p:spPr>
          <a:xfrm>
            <a:off x="8431312" y="2434530"/>
            <a:ext cx="28204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박민제</a:t>
            </a:r>
            <a:endParaRPr lang="en-US" sz="1700" dirty="0"/>
          </a:p>
        </p:txBody>
      </p:sp>
      <p:sp>
        <p:nvSpPr>
          <p:cNvPr id="17" name="Text 12"/>
          <p:cNvSpPr/>
          <p:nvPr/>
        </p:nvSpPr>
        <p:spPr>
          <a:xfrm>
            <a:off x="8431312" y="2769791"/>
            <a:ext cx="28204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데이터 제공</a:t>
            </a:r>
            <a:endParaRPr lang="en-US" sz="1200" dirty="0"/>
          </a:p>
        </p:txBody>
      </p:sp>
      <p:sp>
        <p:nvSpPr>
          <p:cNvPr id="18" name="Text 13"/>
          <p:cNvSpPr/>
          <p:nvPr/>
        </p:nvSpPr>
        <p:spPr>
          <a:xfrm>
            <a:off x="8431312" y="3059311"/>
            <a:ext cx="282048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테스트용 프로젝트·문서 파일 제공</a:t>
            </a:r>
            <a:endParaRPr lang="en-US" sz="1200" dirty="0"/>
          </a:p>
        </p:txBody>
      </p:sp>
      <p:sp>
        <p:nvSpPr>
          <p:cNvPr id="19" name="Shape 14"/>
          <p:cNvSpPr/>
          <p:nvPr/>
        </p:nvSpPr>
        <p:spPr>
          <a:xfrm>
            <a:off x="4915098" y="3653036"/>
            <a:ext cx="3151088" cy="1596330"/>
          </a:xfrm>
          <a:prstGeom prst="roundRect">
            <a:avLst>
              <a:gd name="adj" fmla="val 6166"/>
            </a:avLst>
          </a:prstGeom>
          <a:solidFill>
            <a:srgbClr val="FDFCF9"/>
          </a:solidFill>
          <a:ln w="6350">
            <a:solidFill>
              <a:srgbClr val="D9D6CC"/>
            </a:solidFill>
            <a:prstDash val="solid"/>
          </a:ln>
        </p:spPr>
      </p:sp>
      <p:pic>
        <p:nvPicPr>
          <p:cNvPr id="20" name="Image 3" descr="CheckCircle">    </p:cNvPr>
          <p:cNvPicPr>
            <a:picLocks noChangeAspect="1"/>
          </p:cNvPicPr>
          <p:nvPr/>
        </p:nvPicPr>
        <p:blipFill>
          <a:blip r:embed="rId4"/>
          <a:srcRect l="0" r="0" t="0" b="0"/>
          <a:stretch/>
        </p:blipFill>
        <p:spPr>
          <a:xfrm>
            <a:off x="5121473" y="3859411"/>
            <a:ext cx="254000" cy="254000"/>
          </a:xfrm>
          <a:prstGeom prst="rect">
            <a:avLst/>
          </a:prstGeom>
        </p:spPr>
      </p:pic>
      <p:sp>
        <p:nvSpPr>
          <p:cNvPr id="21" name="Text 15"/>
          <p:cNvSpPr/>
          <p:nvPr/>
        </p:nvSpPr>
        <p:spPr>
          <a:xfrm>
            <a:off x="5121473" y="4189611"/>
            <a:ext cx="28204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최림정</a:t>
            </a:r>
            <a:endParaRPr lang="en-US" sz="1700" dirty="0"/>
          </a:p>
        </p:txBody>
      </p:sp>
      <p:sp>
        <p:nvSpPr>
          <p:cNvPr id="22" name="Text 16"/>
          <p:cNvSpPr/>
          <p:nvPr/>
        </p:nvSpPr>
        <p:spPr>
          <a:xfrm>
            <a:off x="5121473" y="4524871"/>
            <a:ext cx="28204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검수</a:t>
            </a:r>
            <a:endParaRPr lang="en-US" sz="1200" dirty="0"/>
          </a:p>
        </p:txBody>
      </p:sp>
      <p:sp>
        <p:nvSpPr>
          <p:cNvPr id="23" name="Text 17"/>
          <p:cNvSpPr/>
          <p:nvPr/>
        </p:nvSpPr>
        <p:spPr>
          <a:xfrm>
            <a:off x="5121473" y="4814391"/>
            <a:ext cx="282048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리포트 결과 확인, 오류 제보</a:t>
            </a:r>
            <a:endParaRPr lang="en-US" sz="1200" dirty="0"/>
          </a:p>
        </p:txBody>
      </p:sp>
      <p:sp>
        <p:nvSpPr>
          <p:cNvPr id="24" name="Shape 18"/>
          <p:cNvSpPr/>
          <p:nvPr/>
        </p:nvSpPr>
        <p:spPr>
          <a:xfrm>
            <a:off x="8224937" y="3653036"/>
            <a:ext cx="3151088" cy="1596330"/>
          </a:xfrm>
          <a:prstGeom prst="roundRect">
            <a:avLst>
              <a:gd name="adj" fmla="val 6166"/>
            </a:avLst>
          </a:prstGeom>
          <a:solidFill>
            <a:srgbClr val="FDFCF9"/>
          </a:solidFill>
          <a:ln w="6350">
            <a:solidFill>
              <a:srgbClr val="D9D6CC"/>
            </a:solidFill>
            <a:prstDash val="solid"/>
          </a:ln>
        </p:spPr>
      </p:sp>
      <p:pic>
        <p:nvPicPr>
          <p:cNvPr id="25" name="Image 4" descr="Users">    </p:cNvPr>
          <p:cNvPicPr>
            <a:picLocks noChangeAspect="1"/>
          </p:cNvPicPr>
          <p:nvPr/>
        </p:nvPicPr>
        <p:blipFill>
          <a:blip r:embed="rId5"/>
          <a:srcRect l="0" r="0" t="0" b="0"/>
          <a:stretch/>
        </p:blipFill>
        <p:spPr>
          <a:xfrm>
            <a:off x="8431312" y="3859411"/>
            <a:ext cx="254000" cy="254000"/>
          </a:xfrm>
          <a:prstGeom prst="rect">
            <a:avLst/>
          </a:prstGeom>
        </p:spPr>
      </p:pic>
      <p:sp>
        <p:nvSpPr>
          <p:cNvPr id="26" name="Text 19"/>
          <p:cNvSpPr/>
          <p:nvPr/>
        </p:nvSpPr>
        <p:spPr>
          <a:xfrm>
            <a:off x="8431312" y="4189611"/>
            <a:ext cx="282048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신동윤</a:t>
            </a:r>
            <a:endParaRPr lang="en-US" sz="1700" dirty="0"/>
          </a:p>
        </p:txBody>
      </p:sp>
      <p:sp>
        <p:nvSpPr>
          <p:cNvPr id="27" name="Text 20"/>
          <p:cNvSpPr/>
          <p:nvPr/>
        </p:nvSpPr>
        <p:spPr>
          <a:xfrm>
            <a:off x="8431312" y="4524871"/>
            <a:ext cx="28204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FB3"/>
                </a:solidFill>
                <a:latin typeface="IBM Plex Sans KR" pitchFamily="34" charset="0"/>
                <a:ea typeface="IBM Plex Sans KR" pitchFamily="34" charset="-122"/>
                <a:cs typeface="IBM Plex Sans KR" pitchFamily="34" charset="-120"/>
              </a:rPr>
              <a:t>보조</a:t>
            </a:r>
            <a:endParaRPr lang="en-US" sz="1200" dirty="0"/>
          </a:p>
        </p:txBody>
      </p:sp>
      <p:sp>
        <p:nvSpPr>
          <p:cNvPr id="28" name="Text 21"/>
          <p:cNvSpPr/>
          <p:nvPr/>
        </p:nvSpPr>
        <p:spPr>
          <a:xfrm>
            <a:off x="8431312" y="4814391"/>
            <a:ext cx="282048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8"/>
                </a:solidFill>
                <a:latin typeface="IBM Plex Sans KR" pitchFamily="34" charset="0"/>
                <a:ea typeface="IBM Plex Sans KR" pitchFamily="34" charset="-122"/>
                <a:cs typeface="IBM Plex Sans KR" pitchFamily="34" charset="-120"/>
              </a:rPr>
              <a:t>자료 조사, 발표 자료 정리</a:t>
            </a:r>
            <a:endParaRPr lang="en-US" sz="1200" dirty="0"/>
          </a:p>
        </p:txBody>
      </p:sp>
      <p:sp>
        <p:nvSpPr>
          <p:cNvPr id="29"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위험 요소 및 대응 방안</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예상 위험과 대응</a:t>
            </a:r>
            <a:endParaRPr lang="en-US" sz="3200" dirty="0"/>
          </a:p>
        </p:txBody>
      </p:sp>
      <p:sp>
        <p:nvSpPr>
          <p:cNvPr id="4" name="Shape 2"/>
          <p:cNvSpPr/>
          <p:nvPr/>
        </p:nvSpPr>
        <p:spPr>
          <a:xfrm>
            <a:off x="812800" y="1894780"/>
            <a:ext cx="10566400" cy="2533948"/>
          </a:xfrm>
          <a:prstGeom prst="rect">
            <a:avLst/>
          </a:prstGeom>
          <a:solidFill>
            <a:srgbClr val="FDFCF9"/>
          </a:solidFill>
          <a:ln/>
        </p:spPr>
      </p:sp>
      <p:sp>
        <p:nvSpPr>
          <p:cNvPr id="5" name="Shape 3"/>
          <p:cNvSpPr/>
          <p:nvPr/>
        </p:nvSpPr>
        <p:spPr>
          <a:xfrm>
            <a:off x="11376025" y="1894780"/>
            <a:ext cx="0" cy="2533948"/>
          </a:xfrm>
          <a:prstGeom prst="line">
            <a:avLst/>
          </a:prstGeom>
          <a:noFill/>
          <a:ln w="6350">
            <a:solidFill>
              <a:srgbClr val="D9D6CC"/>
            </a:solidFill>
            <a:prstDash val="solid"/>
          </a:ln>
        </p:spPr>
      </p:sp>
      <p:sp>
        <p:nvSpPr>
          <p:cNvPr id="6" name="Shape 4"/>
          <p:cNvSpPr/>
          <p:nvPr/>
        </p:nvSpPr>
        <p:spPr>
          <a:xfrm>
            <a:off x="812800" y="4425553"/>
            <a:ext cx="10566400" cy="0"/>
          </a:xfrm>
          <a:prstGeom prst="line">
            <a:avLst/>
          </a:prstGeom>
          <a:noFill/>
          <a:ln w="6350">
            <a:solidFill>
              <a:srgbClr val="D9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07480"/>
          <a:ext cx="10547350" cy="2514898"/>
        </p:xfrm>
        <a:graphic>
          <a:graphicData uri="http://schemas.openxmlformats.org/drawingml/2006/table">
            <a:tbl>
              <a:tblPr/>
              <a:tblGrid>
                <a:gridCol w="1476629"/>
                <a:gridCol w="3797046"/>
                <a:gridCol w="5273675"/>
              </a:tblGrid>
              <a:tr h="359271">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구분</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위험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대응</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기술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LLM 환각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사실 · 해석 분리, 근거 검증, 경고 표시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기술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대규모 변경 시 입력 길이 초과</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계층 요약, 중요도 순 처리</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기술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hwp 파싱 실패 (암호화 · 배포용)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추출 실패 시 변경됨만 표시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비용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무료 API 요청 제한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대기 · 재시도 로직, 모델 교체 구조, mock 개발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일정</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기능 과다로 일정 지연</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11/9 중간보고까지 MVP 우선, 나머지는 선택 기능</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협업</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개발이 한 명에게 집중되는 병목</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조원이 데이터 제공 · 검수 · 발표를 분담, 주 1회 진행 공유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성능 평가 지표</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측정 가능한 지표만 설정</a:t>
            </a:r>
            <a:endParaRPr lang="en-US" sz="3200" dirty="0"/>
          </a:p>
        </p:txBody>
      </p:sp>
      <p:sp>
        <p:nvSpPr>
          <p:cNvPr id="4" name="Shape 2"/>
          <p:cNvSpPr/>
          <p:nvPr/>
        </p:nvSpPr>
        <p:spPr>
          <a:xfrm>
            <a:off x="812800" y="1869380"/>
            <a:ext cx="10566400" cy="2533948"/>
          </a:xfrm>
          <a:prstGeom prst="rect">
            <a:avLst/>
          </a:prstGeom>
          <a:solidFill>
            <a:srgbClr val="FDFCF9"/>
          </a:solidFill>
          <a:ln/>
        </p:spPr>
      </p:sp>
      <p:sp>
        <p:nvSpPr>
          <p:cNvPr id="5" name="Shape 3"/>
          <p:cNvSpPr/>
          <p:nvPr/>
        </p:nvSpPr>
        <p:spPr>
          <a:xfrm>
            <a:off x="11376025" y="1869380"/>
            <a:ext cx="0" cy="2533948"/>
          </a:xfrm>
          <a:prstGeom prst="line">
            <a:avLst/>
          </a:prstGeom>
          <a:noFill/>
          <a:ln w="6350">
            <a:solidFill>
              <a:srgbClr val="D9D6CC"/>
            </a:solidFill>
            <a:prstDash val="solid"/>
          </a:ln>
        </p:spPr>
      </p:sp>
      <p:sp>
        <p:nvSpPr>
          <p:cNvPr id="6" name="Shape 4"/>
          <p:cNvSpPr/>
          <p:nvPr/>
        </p:nvSpPr>
        <p:spPr>
          <a:xfrm>
            <a:off x="812800" y="4400153"/>
            <a:ext cx="10566400" cy="0"/>
          </a:xfrm>
          <a:prstGeom prst="line">
            <a:avLst/>
          </a:prstGeom>
          <a:noFill/>
          <a:ln w="6350">
            <a:solidFill>
              <a:srgbClr val="D9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82080"/>
          <a:ext cx="10547350" cy="2514898"/>
        </p:xfrm>
        <a:graphic>
          <a:graphicData uri="http://schemas.openxmlformats.org/drawingml/2006/table">
            <a:tbl>
              <a:tblPr/>
              <a:tblGrid>
                <a:gridCol w="2109470"/>
                <a:gridCol w="5273675"/>
                <a:gridCol w="3164205"/>
              </a:tblGrid>
              <a:tr h="359271">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평가 대상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지표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c>
                  <a:txBody>
                    <a:bodyPr/>
                    <a:lstStyle/>
                    <a:p>
                      <a:pPr indent="0" marL="0">
                        <a:lnSpc>
                          <a:spcPts val="1820"/>
                        </a:lnSpc>
                        <a:buNone/>
                      </a:pPr>
                      <a:r>
                        <a:rPr lang="en-US" sz="1300" b="1" dirty="0">
                          <a:solidFill>
                            <a:srgbClr val="1B2433"/>
                          </a:solidFill>
                          <a:latin typeface="IBM Plex Sans KR" pitchFamily="34" charset="0"/>
                          <a:ea typeface="IBM Plex Sans KR" pitchFamily="34" charset="-122"/>
                          <a:cs typeface="IBM Plex Sans KR" pitchFamily="34" charset="-120"/>
                        </a:rPr>
                        <a:t>목표 (예시)</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7"/>
                    </a:solidFill>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변경 분류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Precision · Recall · F1 (추가 · 삭제 · 수정 · 이동)</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F1 0.95 이상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이동 감지</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Recall</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0.9 이상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사실 정보</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오류율</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0% (구조적 보장)</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근거 검증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주입 오류 탐지율 (Recall)</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80% 이상</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근거 검증</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오탐률 (정상 문장에 경고)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10% 이하</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9271">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요약 품질</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사람 판정 정확도 (30~50문장 샘플)</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B2433"/>
                          </a:solidFill>
                          <a:latin typeface="IBM Plex Sans KR" pitchFamily="34" charset="0"/>
                          <a:ea typeface="IBM Plex Sans KR" pitchFamily="34" charset="-122"/>
                          <a:cs typeface="IBM Plex Sans KR" pitchFamily="34" charset="-120"/>
                        </a:rPr>
                        <a:t>측정 결과 보고</a:t>
                      </a:r>
                      <a:endParaRPr lang="en-US" sz="1300" dirty="0">
                        <a:latin typeface="IBM Plex Sans KR" charset="0"/>
                        <a:ea typeface="IBM Plex Sans KR" charset="0"/>
                        <a:cs typeface="IBM Plex Sans KR"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8" name="Shape 5"/>
          <p:cNvSpPr/>
          <p:nvPr/>
        </p:nvSpPr>
        <p:spPr>
          <a:xfrm>
            <a:off x="812800" y="4657328"/>
            <a:ext cx="5181600" cy="1026120"/>
          </a:xfrm>
          <a:prstGeom prst="roundRect">
            <a:avLst>
              <a:gd name="adj" fmla="val 7426"/>
            </a:avLst>
          </a:prstGeom>
          <a:solidFill>
            <a:srgbClr val="FBEFE6"/>
          </a:solidFill>
          <a:ln/>
        </p:spPr>
      </p:sp>
      <p:sp>
        <p:nvSpPr>
          <p:cNvPr id="9" name="Text 6"/>
          <p:cNvSpPr/>
          <p:nvPr/>
        </p:nvSpPr>
        <p:spPr>
          <a:xfrm>
            <a:off x="1016000" y="4809728"/>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4D1A"/>
                </a:solidFill>
                <a:latin typeface="IBM Plex Sans KR" pitchFamily="34" charset="0"/>
                <a:ea typeface="IBM Plex Sans KR" pitchFamily="34" charset="-122"/>
                <a:cs typeface="IBM Plex Sans KR" pitchFamily="34" charset="-120"/>
              </a:rPr>
              <a:t>오류 주입 평가</a:t>
            </a:r>
            <a:endParaRPr lang="en-US" sz="1200" dirty="0"/>
          </a:p>
        </p:txBody>
      </p:sp>
      <p:sp>
        <p:nvSpPr>
          <p:cNvPr id="10" name="Text 7"/>
          <p:cNvSpPr/>
          <p:nvPr/>
        </p:nvSpPr>
        <p:spPr>
          <a:xfrm>
            <a:off x="1016000" y="5073848"/>
            <a:ext cx="491845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3"/>
                </a:solidFill>
                <a:latin typeface="IBM Plex Sans KR" pitchFamily="34" charset="0"/>
                <a:ea typeface="IBM Plex Sans KR" pitchFamily="34" charset="-122"/>
                <a:cs typeface="IBM Plex Sans KR" pitchFamily="34" charset="-120"/>
              </a:rPr>
              <a:t>정상 요약에 틀린 파일명 · 가짜 함수명 · 엉뚱한 근거를</a:t>
            </a:r>
            <a:endParaRPr lang="en-US" sz="1200" dirty="0"/>
          </a:p>
          <a:p>
            <a:pPr algn="l" indent="0" marL="0">
              <a:lnSpc>
                <a:spcPts val="1800"/>
              </a:lnSpc>
              <a:buNone/>
            </a:pPr>
            <a:r>
              <a:rPr lang="en-US" sz="1200" dirty="0">
                <a:solidFill>
                  <a:srgbClr val="1B2433"/>
                </a:solidFill>
                <a:latin typeface="IBM Plex Sans KR" pitchFamily="34" charset="0"/>
                <a:ea typeface="IBM Plex Sans KR" pitchFamily="34" charset="-122"/>
                <a:cs typeface="IBM Plex Sans KR" pitchFamily="34" charset="-120"/>
              </a:rPr>
              <a:t>자동으로 넣고 검증기가 몇 개를 잡는지 측정</a:t>
            </a:r>
            <a:endParaRPr lang="en-US" sz="1200" dirty="0"/>
          </a:p>
        </p:txBody>
      </p:sp>
      <p:sp>
        <p:nvSpPr>
          <p:cNvPr id="11" name="Shape 8"/>
          <p:cNvSpPr/>
          <p:nvPr/>
        </p:nvSpPr>
        <p:spPr>
          <a:xfrm>
            <a:off x="6197600" y="4657328"/>
            <a:ext cx="5181600" cy="1026120"/>
          </a:xfrm>
          <a:prstGeom prst="roundRect">
            <a:avLst>
              <a:gd name="adj" fmla="val 7426"/>
            </a:avLst>
          </a:prstGeom>
          <a:solidFill>
            <a:srgbClr val="ECEAE3"/>
          </a:solidFill>
          <a:ln/>
        </p:spPr>
      </p:sp>
      <p:sp>
        <p:nvSpPr>
          <p:cNvPr id="12" name="Text 9"/>
          <p:cNvSpPr/>
          <p:nvPr/>
        </p:nvSpPr>
        <p:spPr>
          <a:xfrm>
            <a:off x="6400800" y="4809728"/>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KR" pitchFamily="34" charset="0"/>
                <a:ea typeface="IBM Plex Sans KR" pitchFamily="34" charset="-122"/>
                <a:cs typeface="IBM Plex Sans KR" pitchFamily="34" charset="-120"/>
              </a:rPr>
              <a:t>BLEU를 쓰지 않는 이유</a:t>
            </a:r>
            <a:endParaRPr lang="en-US" sz="1200" dirty="0"/>
          </a:p>
        </p:txBody>
      </p:sp>
      <p:sp>
        <p:nvSpPr>
          <p:cNvPr id="13" name="Text 10"/>
          <p:cNvSpPr/>
          <p:nvPr/>
        </p:nvSpPr>
        <p:spPr>
          <a:xfrm>
            <a:off x="6400800" y="5073848"/>
            <a:ext cx="491845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B2433"/>
                </a:solidFill>
                <a:latin typeface="IBM Plex Sans KR" pitchFamily="34" charset="0"/>
                <a:ea typeface="IBM Plex Sans KR" pitchFamily="34" charset="-122"/>
                <a:cs typeface="IBM Plex Sans KR" pitchFamily="34" charset="-120"/>
              </a:rPr>
              <a:t>정답 요약문이 없는 과제라 의미가 없음.</a:t>
            </a:r>
            <a:endParaRPr lang="en-US" sz="1200" dirty="0"/>
          </a:p>
          <a:p>
            <a:pPr algn="l" indent="0" marL="0">
              <a:lnSpc>
                <a:spcPts val="1800"/>
              </a:lnSpc>
              <a:buNone/>
            </a:pPr>
            <a:r>
              <a:rPr lang="en-US" sz="1200" dirty="0">
                <a:solidFill>
                  <a:srgbClr val="1B2433"/>
                </a:solidFill>
                <a:latin typeface="IBM Plex Sans KR" pitchFamily="34" charset="0"/>
                <a:ea typeface="IBM Plex Sans KR" pitchFamily="34" charset="-122"/>
                <a:cs typeface="IBM Plex Sans KR" pitchFamily="34" charset="-120"/>
              </a:rPr>
              <a:t>목표 수치는 1차 실험 후 확정</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사용자 테스트 &amp; 결과 분석 및 개선</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사용자 테스트와 개선 계획</a:t>
            </a:r>
            <a:endParaRPr lang="en-US" sz="3200" dirty="0"/>
          </a:p>
        </p:txBody>
      </p:sp>
      <p:sp>
        <p:nvSpPr>
          <p:cNvPr id="4" name="Shape 2"/>
          <p:cNvSpPr/>
          <p:nvPr/>
        </p:nvSpPr>
        <p:spPr>
          <a:xfrm>
            <a:off x="815975" y="1923355"/>
            <a:ext cx="5149850" cy="2545060"/>
          </a:xfrm>
          <a:prstGeom prst="roundRect">
            <a:avLst>
              <a:gd name="adj" fmla="val 4865"/>
            </a:avLst>
          </a:prstGeom>
          <a:solidFill>
            <a:srgbClr val="FDFCF9"/>
          </a:solidFill>
          <a:ln w="6350">
            <a:solidFill>
              <a:srgbClr val="D9D6CC"/>
            </a:solidFill>
            <a:prstDash val="solid"/>
          </a:ln>
        </p:spPr>
      </p:sp>
      <p:sp>
        <p:nvSpPr>
          <p:cNvPr id="5" name="Text 3"/>
          <p:cNvSpPr/>
          <p:nvPr/>
        </p:nvSpPr>
        <p:spPr>
          <a:xfrm>
            <a:off x="1098550" y="2205930"/>
            <a:ext cx="472224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FB3"/>
                </a:solidFill>
                <a:latin typeface="IBM Plex Sans KR" pitchFamily="34" charset="0"/>
                <a:ea typeface="IBM Plex Sans KR" pitchFamily="34" charset="-122"/>
                <a:cs typeface="IBM Plex Sans KR" pitchFamily="34" charset="-120"/>
              </a:rPr>
              <a:t>사용자 테스트 설계</a:t>
            </a:r>
            <a:endParaRPr lang="en-US" sz="1700" dirty="0"/>
          </a:p>
        </p:txBody>
      </p:sp>
      <p:sp>
        <p:nvSpPr>
          <p:cNvPr id="6" name="Text 4"/>
          <p:cNvSpPr/>
          <p:nvPr/>
        </p:nvSpPr>
        <p:spPr>
          <a:xfrm>
            <a:off x="1098550" y="259199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대상</a:t>
            </a:r>
            <a:r>
              <a:rPr lang="en-US" sz="1300" dirty="0">
                <a:solidFill>
                  <a:srgbClr val="1B2433"/>
                </a:solidFill>
                <a:latin typeface="IBM Plex Sans KR" pitchFamily="34" charset="0"/>
                <a:ea typeface="IBM Plex Sans KR" pitchFamily="34" charset="-122"/>
                <a:cs typeface="IBM Plex Sans KR" pitchFamily="34" charset="-120"/>
              </a:rPr>
              <a:t> · 수강생 5명 내외 (개발자 · 비개발자 혼합)</a:t>
            </a:r>
            <a:endParaRPr lang="en-US" sz="1300" dirty="0"/>
          </a:p>
        </p:txBody>
      </p:sp>
      <p:sp>
        <p:nvSpPr>
          <p:cNvPr id="7" name="Text 5"/>
          <p:cNvSpPr/>
          <p:nvPr/>
        </p:nvSpPr>
        <p:spPr>
          <a:xfrm>
            <a:off x="1098550" y="292854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시기</a:t>
            </a:r>
            <a:r>
              <a:rPr lang="en-US" sz="1300" dirty="0">
                <a:solidFill>
                  <a:srgbClr val="1B2433"/>
                </a:solidFill>
                <a:latin typeface="IBM Plex Sans KR" pitchFamily="34" charset="0"/>
                <a:ea typeface="IBM Plex Sans KR" pitchFamily="34" charset="-122"/>
                <a:cs typeface="IBM Plex Sans KR" pitchFamily="34" charset="-120"/>
              </a:rPr>
              <a:t> · 11/12 ~ 11/18 (기능 확장 후)</a:t>
            </a:r>
            <a:endParaRPr lang="en-US" sz="1300" dirty="0"/>
          </a:p>
        </p:txBody>
      </p:sp>
      <p:sp>
        <p:nvSpPr>
          <p:cNvPr id="8" name="Text 6"/>
          <p:cNvSpPr/>
          <p:nvPr/>
        </p:nvSpPr>
        <p:spPr>
          <a:xfrm>
            <a:off x="1098550" y="326509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과제</a:t>
            </a:r>
            <a:r>
              <a:rPr lang="en-US" sz="1300" dirty="0">
                <a:solidFill>
                  <a:srgbClr val="1B2433"/>
                </a:solidFill>
                <a:latin typeface="IBM Plex Sans KR" pitchFamily="34" charset="0"/>
                <a:ea typeface="IBM Plex Sans KR" pitchFamily="34" charset="-122"/>
                <a:cs typeface="IBM Plex Sans KR" pitchFamily="34" charset="-120"/>
              </a:rPr>
              <a:t> · 같은 스냅샷 쌍에서 "주요 변경 3가지 찾기"</a:t>
            </a:r>
            <a:endParaRPr lang="en-US" sz="1300" dirty="0"/>
          </a:p>
        </p:txBody>
      </p:sp>
      <p:sp>
        <p:nvSpPr>
          <p:cNvPr id="9" name="Text 7"/>
          <p:cNvSpPr/>
          <p:nvPr/>
        </p:nvSpPr>
        <p:spPr>
          <a:xfrm>
            <a:off x="1098550" y="360164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비교</a:t>
            </a:r>
            <a:r>
              <a:rPr lang="en-US" sz="1300" dirty="0">
                <a:solidFill>
                  <a:srgbClr val="1B2433"/>
                </a:solidFill>
                <a:latin typeface="IBM Plex Sans KR" pitchFamily="34" charset="0"/>
                <a:ea typeface="IBM Plex Sans KR" pitchFamily="34" charset="-122"/>
                <a:cs typeface="IBM Plex Sans KR" pitchFamily="34" charset="-120"/>
              </a:rPr>
              <a:t> · A 직접 비교 vs B 리포트 사용</a:t>
            </a:r>
            <a:endParaRPr lang="en-US" sz="1300" dirty="0"/>
          </a:p>
        </p:txBody>
      </p:sp>
      <p:sp>
        <p:nvSpPr>
          <p:cNvPr id="10" name="Text 8"/>
          <p:cNvSpPr/>
          <p:nvPr/>
        </p:nvSpPr>
        <p:spPr>
          <a:xfrm>
            <a:off x="1098550" y="393819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측정</a:t>
            </a:r>
            <a:r>
              <a:rPr lang="en-US" sz="1300" dirty="0">
                <a:solidFill>
                  <a:srgbClr val="1B2433"/>
                </a:solidFill>
                <a:latin typeface="IBM Plex Sans KR" pitchFamily="34" charset="0"/>
                <a:ea typeface="IBM Plex Sans KR" pitchFamily="34" charset="-122"/>
                <a:cs typeface="IBM Plex Sans KR" pitchFamily="34" charset="-120"/>
              </a:rPr>
              <a:t> · 소요 시간, 정답률, SUS 사용성 설문(10문항), 자유 의견 등등</a:t>
            </a:r>
            <a:endParaRPr lang="en-US" sz="1300" dirty="0"/>
          </a:p>
        </p:txBody>
      </p:sp>
      <p:sp>
        <p:nvSpPr>
          <p:cNvPr id="11" name="Shape 9"/>
          <p:cNvSpPr/>
          <p:nvPr/>
        </p:nvSpPr>
        <p:spPr>
          <a:xfrm>
            <a:off x="6226175" y="1923355"/>
            <a:ext cx="5149850" cy="2545060"/>
          </a:xfrm>
          <a:prstGeom prst="roundRect">
            <a:avLst>
              <a:gd name="adj" fmla="val 4865"/>
            </a:avLst>
          </a:prstGeom>
          <a:solidFill>
            <a:srgbClr val="FDFCF9"/>
          </a:solidFill>
          <a:ln w="6350">
            <a:solidFill>
              <a:srgbClr val="D9D6CC"/>
            </a:solidFill>
            <a:prstDash val="solid"/>
          </a:ln>
        </p:spPr>
      </p:sp>
      <p:sp>
        <p:nvSpPr>
          <p:cNvPr id="12" name="Text 10"/>
          <p:cNvSpPr/>
          <p:nvPr/>
        </p:nvSpPr>
        <p:spPr>
          <a:xfrm>
            <a:off x="6508750" y="2205930"/>
            <a:ext cx="472224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D1A"/>
                </a:solidFill>
                <a:latin typeface="IBM Plex Sans KR" pitchFamily="34" charset="0"/>
                <a:ea typeface="IBM Plex Sans KR" pitchFamily="34" charset="-122"/>
                <a:cs typeface="IBM Plex Sans KR" pitchFamily="34" charset="-120"/>
              </a:rPr>
              <a:t>결과에 따른 개선</a:t>
            </a:r>
            <a:endParaRPr lang="en-US" sz="1700" dirty="0"/>
          </a:p>
        </p:txBody>
      </p:sp>
      <p:sp>
        <p:nvSpPr>
          <p:cNvPr id="13" name="Text 11"/>
          <p:cNvSpPr/>
          <p:nvPr/>
        </p:nvSpPr>
        <p:spPr>
          <a:xfrm>
            <a:off x="6508750" y="259199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놓친 오류 유형</a:t>
            </a:r>
            <a:r>
              <a:rPr lang="en-US" sz="1300" dirty="0">
                <a:solidFill>
                  <a:srgbClr val="1B2433"/>
                </a:solidFill>
                <a:latin typeface="IBM Plex Sans KR" pitchFamily="34" charset="0"/>
                <a:ea typeface="IBM Plex Sans KR" pitchFamily="34" charset="-122"/>
                <a:cs typeface="IBM Plex Sans KR" pitchFamily="34" charset="-120"/>
              </a:rPr>
              <a:t> → 검증 규칙 추가, 프롬프트 수정</a:t>
            </a:r>
            <a:endParaRPr lang="en-US" sz="1300" dirty="0"/>
          </a:p>
        </p:txBody>
      </p:sp>
      <p:sp>
        <p:nvSpPr>
          <p:cNvPr id="14" name="Text 12"/>
          <p:cNvSpPr/>
          <p:nvPr/>
        </p:nvSpPr>
        <p:spPr>
          <a:xfrm>
            <a:off x="6508750" y="292854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오탐이 많음</a:t>
            </a:r>
            <a:r>
              <a:rPr lang="en-US" sz="1300" dirty="0">
                <a:solidFill>
                  <a:srgbClr val="1B2433"/>
                </a:solidFill>
                <a:latin typeface="IBM Plex Sans KR" pitchFamily="34" charset="0"/>
                <a:ea typeface="IBM Plex Sans KR" pitchFamily="34" charset="-122"/>
                <a:cs typeface="IBM Plex Sans KR" pitchFamily="34" charset="-120"/>
              </a:rPr>
              <a:t> → 식별자 대조 기준 완화</a:t>
            </a:r>
            <a:endParaRPr lang="en-US" sz="1300" dirty="0"/>
          </a:p>
        </p:txBody>
      </p:sp>
      <p:sp>
        <p:nvSpPr>
          <p:cNvPr id="15" name="Text 13"/>
          <p:cNvSpPr/>
          <p:nvPr/>
        </p:nvSpPr>
        <p:spPr>
          <a:xfrm>
            <a:off x="6508750" y="326509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비개발자가 이해 못 한 문장</a:t>
            </a:r>
            <a:r>
              <a:rPr lang="en-US" sz="1300" dirty="0">
                <a:solidFill>
                  <a:srgbClr val="1B2433"/>
                </a:solidFill>
                <a:latin typeface="IBM Plex Sans KR" pitchFamily="34" charset="0"/>
                <a:ea typeface="IBM Plex Sans KR" pitchFamily="34" charset="-122"/>
                <a:cs typeface="IBM Plex Sans KR" pitchFamily="34" charset="-120"/>
              </a:rPr>
              <a:t> → 리포트 문구 템플릿 개선</a:t>
            </a:r>
            <a:endParaRPr lang="en-US" sz="1300" dirty="0"/>
          </a:p>
        </p:txBody>
      </p:sp>
      <p:sp>
        <p:nvSpPr>
          <p:cNvPr id="16" name="Text 14"/>
          <p:cNvSpPr/>
          <p:nvPr/>
        </p:nvSpPr>
        <p:spPr>
          <a:xfrm>
            <a:off x="6508750" y="3601641"/>
            <a:ext cx="4722241"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B2433"/>
                </a:solidFill>
                <a:latin typeface="IBM Plex Sans KR" pitchFamily="34" charset="0"/>
                <a:ea typeface="IBM Plex Sans KR" pitchFamily="34" charset="-122"/>
                <a:cs typeface="IBM Plex Sans KR" pitchFamily="34" charset="-120"/>
              </a:rPr>
              <a:t>시간 단축 효과 미미</a:t>
            </a:r>
            <a:r>
              <a:rPr lang="en-US" sz="1300" dirty="0">
                <a:solidFill>
                  <a:srgbClr val="1B2433"/>
                </a:solidFill>
                <a:latin typeface="IBM Plex Sans KR" pitchFamily="34" charset="0"/>
                <a:ea typeface="IBM Plex Sans KR" pitchFamily="34" charset="-122"/>
                <a:cs typeface="IBM Plex Sans KR" pitchFamily="34" charset="-120"/>
              </a:rPr>
              <a:t> → 요약 길이 · 리포트 구성 재설계</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기대효과 및 향후 발전 방향</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기대효과, 한계, 그리고 다음 단계</a:t>
            </a:r>
            <a:endParaRPr lang="en-US" sz="3200" dirty="0"/>
          </a:p>
        </p:txBody>
      </p:sp>
      <p:sp>
        <p:nvSpPr>
          <p:cNvPr id="4" name="Shape 2"/>
          <p:cNvSpPr/>
          <p:nvPr/>
        </p:nvSpPr>
        <p:spPr>
          <a:xfrm>
            <a:off x="812800" y="1920180"/>
            <a:ext cx="3386634" cy="2723356"/>
          </a:xfrm>
          <a:prstGeom prst="roundRect">
            <a:avLst>
              <a:gd name="adj" fmla="val 2798"/>
            </a:avLst>
          </a:prstGeom>
          <a:solidFill>
            <a:srgbClr val="FDFCF9"/>
          </a:solidFill>
          <a:ln/>
        </p:spPr>
      </p:sp>
      <p:sp>
        <p:nvSpPr>
          <p:cNvPr id="5" name="Shape 3"/>
          <p:cNvSpPr/>
          <p:nvPr/>
        </p:nvSpPr>
        <p:spPr>
          <a:xfrm>
            <a:off x="812800" y="1920180"/>
            <a:ext cx="3386634" cy="2723356"/>
          </a:xfrm>
          <a:custGeom>
            <a:avLst/>
            <a:gdLst/>
            <a:ahLst/>
            <a:cxnLst/>
            <a:rect l="l" t="t" r="r" b="b"/>
            <a:pathLst>
              <a:path w="3386634" h="2723356">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2F5FB3"/>
          </a:solidFill>
          <a:ln/>
        </p:spPr>
      </p:sp>
      <p:sp>
        <p:nvSpPr>
          <p:cNvPr id="6" name="Text 4"/>
          <p:cNvSpPr/>
          <p:nvPr/>
        </p:nvSpPr>
        <p:spPr>
          <a:xfrm>
            <a:off x="1066800"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5.1 기대효과</a:t>
            </a:r>
            <a:endParaRPr lang="en-US" sz="1700" dirty="0"/>
          </a:p>
        </p:txBody>
      </p:sp>
      <p:sp>
        <p:nvSpPr>
          <p:cNvPr id="7" name="Text 5"/>
          <p:cNvSpPr/>
          <p:nvPr/>
        </p:nvSpPr>
        <p:spPr>
          <a:xfrm>
            <a:off x="1066800" y="2598341"/>
            <a:ext cx="2964993" cy="1816596"/>
          </a:xfrm>
          <a:prstGeom prst="rect">
            <a:avLst/>
          </a:prstGeom>
          <a:noFill/>
          <a:ln/>
        </p:spPr>
        <p:txBody>
          <a:bodyPr wrap="square" lIns="0" tIns="0" rIns="0" bIns="0" rtlCol="0" anchor="t">
            <a:normAutofit/>
          </a:bodyPr>
          <a:lstStyle/>
          <a:p>
            <a:pPr algn="l" marL="254000" indent="-168656">
              <a:lnSpc>
                <a:spcPts val="2015"/>
              </a:lnSpc>
              <a:buSzPct val="100000"/>
              <a:buChar char="•"/>
            </a:pPr>
            <a:r>
              <a:rPr lang="en-US" sz="1300" b="1" dirty="0">
                <a:solidFill>
                  <a:srgbClr val="4A5568"/>
                </a:solidFill>
                <a:latin typeface="IBM Plex Sans KR" pitchFamily="34" charset="0"/>
                <a:ea typeface="IBM Plex Sans KR" pitchFamily="34" charset="-122"/>
                <a:cs typeface="IBM Plex Sans KR" pitchFamily="34" charset="-120"/>
              </a:rPr>
              <a:t>교육</a:t>
            </a:r>
            <a:r>
              <a:rPr lang="en-US" sz="1300" dirty="0">
                <a:solidFill>
                  <a:srgbClr val="4A5568"/>
                </a:solidFill>
                <a:latin typeface="IBM Plex Sans KR" pitchFamily="34" charset="0"/>
                <a:ea typeface="IBM Plex Sans KR" pitchFamily="34" charset="-122"/>
                <a:cs typeface="IBM Plex Sans KR" pitchFamily="34" charset="-120"/>
              </a:rPr>
              <a:t> · 입문자가 Git 없이</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버전 관리 개념을 익힘</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b="1" dirty="0">
                <a:solidFill>
                  <a:srgbClr val="4A5568"/>
                </a:solidFill>
                <a:latin typeface="IBM Plex Sans KR" pitchFamily="34" charset="0"/>
                <a:ea typeface="IBM Plex Sans KR" pitchFamily="34" charset="-122"/>
                <a:cs typeface="IBM Plex Sans KR" pitchFamily="34" charset="-120"/>
              </a:rPr>
              <a:t>협업</a:t>
            </a:r>
            <a:r>
              <a:rPr lang="en-US" sz="1300" dirty="0">
                <a:solidFill>
                  <a:srgbClr val="4A5568"/>
                </a:solidFill>
                <a:latin typeface="IBM Plex Sans KR" pitchFamily="34" charset="0"/>
                <a:ea typeface="IBM Plex Sans KR" pitchFamily="34" charset="-122"/>
                <a:cs typeface="IBM Plex Sans KR" pitchFamily="34" charset="-120"/>
              </a:rPr>
              <a:t> · 비개발 팀원과 진행 상황 공유</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b="1" dirty="0">
                <a:solidFill>
                  <a:srgbClr val="4A5568"/>
                </a:solidFill>
                <a:latin typeface="IBM Plex Sans KR" pitchFamily="34" charset="0"/>
                <a:ea typeface="IBM Plex Sans KR" pitchFamily="34" charset="-122"/>
                <a:cs typeface="IBM Plex Sans KR" pitchFamily="34" charset="-120"/>
              </a:rPr>
              <a:t>기술</a:t>
            </a:r>
            <a:r>
              <a:rPr lang="en-US" sz="1300" dirty="0">
                <a:solidFill>
                  <a:srgbClr val="4A5568"/>
                </a:solidFill>
                <a:latin typeface="IBM Plex Sans KR" pitchFamily="34" charset="0"/>
                <a:ea typeface="IBM Plex Sans KR" pitchFamily="34" charset="-122"/>
                <a:cs typeface="IBM Plex Sans KR" pitchFamily="34" charset="-120"/>
              </a:rPr>
              <a:t> · 근거 기반 AI 출력의</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신뢰성 설계 사례</a:t>
            </a:r>
            <a:endParaRPr lang="en-US" sz="1300" dirty="0"/>
          </a:p>
        </p:txBody>
      </p:sp>
      <p:sp>
        <p:nvSpPr>
          <p:cNvPr id="8" name="Shape 6"/>
          <p:cNvSpPr/>
          <p:nvPr/>
        </p:nvSpPr>
        <p:spPr>
          <a:xfrm>
            <a:off x="4402634" y="1920180"/>
            <a:ext cx="3386634" cy="2723356"/>
          </a:xfrm>
          <a:prstGeom prst="roundRect">
            <a:avLst>
              <a:gd name="adj" fmla="val 2798"/>
            </a:avLst>
          </a:prstGeom>
          <a:solidFill>
            <a:srgbClr val="ECEAE3"/>
          </a:solidFill>
          <a:ln/>
        </p:spPr>
      </p:sp>
      <p:sp>
        <p:nvSpPr>
          <p:cNvPr id="9" name="Shape 7"/>
          <p:cNvSpPr/>
          <p:nvPr/>
        </p:nvSpPr>
        <p:spPr>
          <a:xfrm>
            <a:off x="4402634" y="1920180"/>
            <a:ext cx="3386634" cy="2723356"/>
          </a:xfrm>
          <a:custGeom>
            <a:avLst/>
            <a:gdLst/>
            <a:ahLst/>
            <a:cxnLst/>
            <a:rect l="l" t="t" r="r" b="b"/>
            <a:pathLst>
              <a:path w="3386634" h="2723356">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8A8F99"/>
          </a:solidFill>
          <a:ln/>
        </p:spPr>
      </p:sp>
      <p:sp>
        <p:nvSpPr>
          <p:cNvPr id="10" name="Text 8"/>
          <p:cNvSpPr/>
          <p:nvPr/>
        </p:nvSpPr>
        <p:spPr>
          <a:xfrm>
            <a:off x="4656634"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5.2 한계점</a:t>
            </a:r>
            <a:endParaRPr lang="en-US" sz="1700" dirty="0"/>
          </a:p>
        </p:txBody>
      </p:sp>
      <p:sp>
        <p:nvSpPr>
          <p:cNvPr id="11" name="Text 9"/>
          <p:cNvSpPr/>
          <p:nvPr/>
        </p:nvSpPr>
        <p:spPr>
          <a:xfrm>
            <a:off x="4656634" y="2598341"/>
            <a:ext cx="2964993" cy="1816596"/>
          </a:xfrm>
          <a:prstGeom prst="rect">
            <a:avLst/>
          </a:prstGeom>
          <a:noFill/>
          <a:ln/>
        </p:spPr>
        <p:txBody>
          <a:bodyPr wrap="square" lIns="0" tIns="0" rIns="0" bIns="0" rtlCol="0" anchor="t">
            <a:normAutofit/>
          </a:bodyPr>
          <a:lstStyle/>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의미 오류는 완전히 잡을 수 없음</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(최종 판단은 사용자)</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서식 · 이미지 · 스캔 문서는 비교 불가</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무료 API 제한으로</a:t>
            </a:r>
            <a:endParaRPr lang="en-US" sz="1300" dirty="0"/>
          </a:p>
          <a:p>
            <a:pPr algn="l" indent="0" marL="0">
              <a:lnSpc>
                <a:spcPts val="2015"/>
              </a:lnSpc>
              <a:buNone/>
            </a:pPr>
            <a:r>
              <a:rPr lang="en-US" sz="1300" dirty="0">
                <a:solidFill>
                  <a:srgbClr val="4A5568"/>
                </a:solidFill>
                <a:latin typeface="IBM Plex Sans KR" pitchFamily="34" charset="0"/>
                <a:ea typeface="IBM Plex Sans KR" pitchFamily="34" charset="-122"/>
                <a:cs typeface="IBM Plex Sans KR" pitchFamily="34" charset="-120"/>
              </a:rPr>
              <a:t>      대규모 처리 속도 저하</a:t>
            </a:r>
            <a:endParaRPr lang="en-US" sz="1300" dirty="0"/>
          </a:p>
        </p:txBody>
      </p:sp>
      <p:sp>
        <p:nvSpPr>
          <p:cNvPr id="12" name="Shape 10"/>
          <p:cNvSpPr/>
          <p:nvPr/>
        </p:nvSpPr>
        <p:spPr>
          <a:xfrm>
            <a:off x="7992467" y="1920180"/>
            <a:ext cx="3386634" cy="2723356"/>
          </a:xfrm>
          <a:prstGeom prst="roundRect">
            <a:avLst>
              <a:gd name="adj" fmla="val 2798"/>
            </a:avLst>
          </a:prstGeom>
          <a:solidFill>
            <a:srgbClr val="FBEFE6"/>
          </a:solidFill>
          <a:ln/>
        </p:spPr>
      </p:sp>
      <p:sp>
        <p:nvSpPr>
          <p:cNvPr id="13" name="Shape 11"/>
          <p:cNvSpPr/>
          <p:nvPr/>
        </p:nvSpPr>
        <p:spPr>
          <a:xfrm>
            <a:off x="7992467" y="1920180"/>
            <a:ext cx="3386634" cy="2723356"/>
          </a:xfrm>
          <a:custGeom>
            <a:avLst/>
            <a:gdLst/>
            <a:ahLst/>
            <a:cxnLst/>
            <a:rect l="l" t="t" r="r" b="b"/>
            <a:pathLst>
              <a:path w="3386634" h="2723356">
                <a:moveTo>
                  <a:pt x="0" y="76200"/>
                </a:moveTo>
                <a:lnTo>
                  <a:pt x="0" y="76200"/>
                </a:lnTo>
                <a:arcTo hR="76200" wR="76200" stAng="10800000" swAng="5400000"/>
                <a:lnTo>
                  <a:pt x="3310434" y="0"/>
                </a:lnTo>
                <a:arcTo hR="76200" wR="76200" stAng="16200000" swAng="5400000"/>
                <a:lnTo>
                  <a:pt x="3386634" y="76200"/>
                </a:lnTo>
                <a:arcTo hR="38100" wR="76200" stAng="0" swAng="-5400000"/>
                <a:lnTo>
                  <a:pt x="76200" y="38100"/>
                </a:lnTo>
                <a:arcTo hR="38100" wR="76200" stAng="16200000" swAng="-5400000"/>
                <a:close/>
              </a:path>
            </a:pathLst>
          </a:custGeom>
          <a:solidFill>
            <a:srgbClr val="B44D1A"/>
          </a:solidFill>
          <a:ln/>
        </p:spPr>
      </p:sp>
      <p:sp>
        <p:nvSpPr>
          <p:cNvPr id="14" name="Text 12"/>
          <p:cNvSpPr/>
          <p:nvPr/>
        </p:nvSpPr>
        <p:spPr>
          <a:xfrm>
            <a:off x="8246467" y="2212280"/>
            <a:ext cx="296499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433"/>
                </a:solidFill>
                <a:latin typeface="IBM Plex Sans KR" pitchFamily="34" charset="0"/>
                <a:ea typeface="IBM Plex Sans KR" pitchFamily="34" charset="-122"/>
                <a:cs typeface="IBM Plex Sans KR" pitchFamily="34" charset="-120"/>
              </a:rPr>
              <a:t>5.3 후속 방향</a:t>
            </a:r>
            <a:endParaRPr lang="en-US" sz="1700" dirty="0"/>
          </a:p>
        </p:txBody>
      </p:sp>
      <p:sp>
        <p:nvSpPr>
          <p:cNvPr id="15" name="Text 13"/>
          <p:cNvSpPr/>
          <p:nvPr/>
        </p:nvSpPr>
        <p:spPr>
          <a:xfrm>
            <a:off x="8246467" y="2598341"/>
            <a:ext cx="2964993" cy="1816596"/>
          </a:xfrm>
          <a:prstGeom prst="rect">
            <a:avLst/>
          </a:prstGeom>
          <a:noFill/>
          <a:ln/>
        </p:spPr>
        <p:txBody>
          <a:bodyPr wrap="square" lIns="0" tIns="0" rIns="0" bIns="0" rtlCol="0" anchor="t">
            <a:normAutofit/>
          </a:bodyPr>
          <a:lstStyle/>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2차 LLM 교차 검증으로 의미 오류 보강</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Git · Google Drive 버전 기록 연동</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VS Code 확장 또는 웹 서비스화</a:t>
            </a:r>
            <a:endParaRPr lang="en-US" sz="1300" dirty="0"/>
          </a:p>
          <a:p>
            <a:pPr algn="l" indent="0" marL="0">
              <a:lnSpc>
                <a:spcPts val="2015"/>
              </a:lnSpc>
              <a:buNone/>
            </a:pPr>
            <a:endParaRPr lang="en-US" sz="1300" dirty="0"/>
          </a:p>
          <a:p>
            <a:pPr algn="l" marL="254000" indent="-168656">
              <a:lnSpc>
                <a:spcPts val="2015"/>
              </a:lnSpc>
              <a:buSzPct val="100000"/>
              <a:buChar char="•"/>
            </a:pPr>
            <a:r>
              <a:rPr lang="en-US" sz="1300" dirty="0">
                <a:solidFill>
                  <a:srgbClr val="4A5568"/>
                </a:solidFill>
                <a:latin typeface="IBM Plex Sans KR" pitchFamily="34" charset="0"/>
                <a:ea typeface="IBM Plex Sans KR" pitchFamily="34" charset="-122"/>
                <a:cs typeface="IBM Plex Sans KR" pitchFamily="34" charset="-120"/>
              </a:rPr>
              <a:t>서식 · 이미지 변경 비교 지원</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D1A"/>
                </a:solidFill>
                <a:latin typeface="IBM Plex Sans KR" pitchFamily="34" charset="0"/>
                <a:ea typeface="IBM Plex Sans KR" pitchFamily="34" charset="-122"/>
                <a:cs typeface="IBM Plex Sans KR" pitchFamily="34" charset="-120"/>
              </a:rPr>
              <a:t>참고 문헌 및 자료</a:t>
            </a:r>
            <a:endParaRPr lang="en-US" sz="1200" dirty="0"/>
          </a:p>
        </p:txBody>
      </p:sp>
      <p:sp>
        <p:nvSpPr>
          <p:cNvPr id="3" name="Text 1"/>
          <p:cNvSpPr/>
          <p:nvPr>
            <p:ph type="title"/>
          </p:nvPr>
        </p:nvSpPr>
        <p:spPr>
          <a:xfrm>
            <a:off x="812800" y="11277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B2433"/>
                </a:solidFill>
                <a:latin typeface="IBM Plex Sans KR" pitchFamily="34" charset="0"/>
                <a:ea typeface="IBM Plex Sans KR" pitchFamily="34" charset="-122"/>
                <a:cs typeface="IBM Plex Sans KR" pitchFamily="34" charset="-120"/>
              </a:rPr>
              <a:t>참고 자료</a:t>
            </a:r>
            <a:endParaRPr lang="en-US" sz="3200" dirty="0"/>
          </a:p>
        </p:txBody>
      </p:sp>
      <p:sp>
        <p:nvSpPr>
          <p:cNvPr id="4" name="Text 2"/>
          <p:cNvSpPr/>
          <p:nvPr/>
        </p:nvSpPr>
        <p:spPr>
          <a:xfrm>
            <a:off x="812800" y="1894780"/>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FB3"/>
                </a:solidFill>
                <a:latin typeface="IBM Plex Sans KR" pitchFamily="34" charset="0"/>
                <a:ea typeface="IBM Plex Sans KR" pitchFamily="34" charset="-122"/>
                <a:cs typeface="IBM Plex Sans KR" pitchFamily="34" charset="-120"/>
              </a:rPr>
              <a:t>논문</a:t>
            </a:r>
            <a:endParaRPr lang="en-US" sz="1500" dirty="0"/>
          </a:p>
        </p:txBody>
      </p:sp>
      <p:sp>
        <p:nvSpPr>
          <p:cNvPr id="5" name="Text 3"/>
          <p:cNvSpPr/>
          <p:nvPr/>
        </p:nvSpPr>
        <p:spPr>
          <a:xfrm>
            <a:off x="812800" y="2250380"/>
            <a:ext cx="5284724" cy="49768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1B2433"/>
                </a:solidFill>
                <a:latin typeface="IBM Plex Sans KR" pitchFamily="34" charset="0"/>
                <a:ea typeface="IBM Plex Sans KR" pitchFamily="34" charset="-122"/>
                <a:cs typeface="IBM Plex Sans KR" pitchFamily="34" charset="-120"/>
              </a:rPr>
              <a:t>Ji, Z. et al. (2023). Survey of Hallucination in Natural Language Generation. </a:t>
            </a:r>
            <a:r>
              <a:rPr lang="en-US" sz="1200" i="1" dirty="0">
                <a:solidFill>
                  <a:srgbClr val="1B2433"/>
                </a:solidFill>
                <a:latin typeface="IBM Plex Sans KR" pitchFamily="34" charset="0"/>
                <a:ea typeface="IBM Plex Sans KR" pitchFamily="34" charset="-122"/>
                <a:cs typeface="IBM Plex Sans KR" pitchFamily="34" charset="-120"/>
              </a:rPr>
              <a:t>ACM Computing Surveys</a:t>
            </a:r>
            <a:r>
              <a:rPr lang="en-US" sz="1200" dirty="0">
                <a:solidFill>
                  <a:srgbClr val="1B2433"/>
                </a:solidFill>
                <a:latin typeface="IBM Plex Sans KR" pitchFamily="34" charset="0"/>
                <a:ea typeface="IBM Plex Sans KR" pitchFamily="34" charset="-122"/>
                <a:cs typeface="IBM Plex Sans KR" pitchFamily="34" charset="-120"/>
              </a:rPr>
              <a:t>, 55(12).</a:t>
            </a:r>
            <a:endParaRPr lang="en-US" sz="1200" dirty="0"/>
          </a:p>
        </p:txBody>
      </p:sp>
      <p:sp>
        <p:nvSpPr>
          <p:cNvPr id="6" name="Text 4"/>
          <p:cNvSpPr/>
          <p:nvPr/>
        </p:nvSpPr>
        <p:spPr>
          <a:xfrm>
            <a:off x="812800" y="2849662"/>
            <a:ext cx="5284724" cy="49768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1B2433"/>
                </a:solidFill>
                <a:latin typeface="IBM Plex Sans KR" pitchFamily="34" charset="0"/>
                <a:ea typeface="IBM Plex Sans KR" pitchFamily="34" charset="-122"/>
                <a:cs typeface="IBM Plex Sans KR" pitchFamily="34" charset="-120"/>
              </a:rPr>
              <a:t>Jia, Y. &amp; Harman, M. (2011). An Analysis and Survey of the Development of Mutation Testing. </a:t>
            </a:r>
            <a:r>
              <a:rPr lang="en-US" sz="1200" i="1" dirty="0">
                <a:solidFill>
                  <a:srgbClr val="1B2433"/>
                </a:solidFill>
                <a:latin typeface="IBM Plex Sans KR" pitchFamily="34" charset="0"/>
                <a:ea typeface="IBM Plex Sans KR" pitchFamily="34" charset="-122"/>
                <a:cs typeface="IBM Plex Sans KR" pitchFamily="34" charset="-120"/>
              </a:rPr>
              <a:t>IEEE Transactions on Software Engineering</a:t>
            </a:r>
            <a:r>
              <a:rPr lang="en-US" sz="1200" dirty="0">
                <a:solidFill>
                  <a:srgbClr val="1B2433"/>
                </a:solidFill>
                <a:latin typeface="IBM Plex Sans KR" pitchFamily="34" charset="0"/>
                <a:ea typeface="IBM Plex Sans KR" pitchFamily="34" charset="-122"/>
                <a:cs typeface="IBM Plex Sans KR" pitchFamily="34" charset="-120"/>
              </a:rPr>
              <a:t>, 37(5).</a:t>
            </a:r>
            <a:endParaRPr lang="en-US" sz="1200" dirty="0"/>
          </a:p>
        </p:txBody>
      </p:sp>
      <p:sp>
        <p:nvSpPr>
          <p:cNvPr id="7" name="Text 5"/>
          <p:cNvSpPr/>
          <p:nvPr/>
        </p:nvSpPr>
        <p:spPr>
          <a:xfrm>
            <a:off x="812800" y="3448943"/>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FB3"/>
                </a:solidFill>
                <a:latin typeface="IBM Plex Sans KR" pitchFamily="34" charset="0"/>
                <a:ea typeface="IBM Plex Sans KR" pitchFamily="34" charset="-122"/>
                <a:cs typeface="IBM Plex Sans KR" pitchFamily="34" charset="-120"/>
              </a:rPr>
              <a:t>비교 도구</a:t>
            </a:r>
            <a:endParaRPr lang="en-US" sz="1500" dirty="0"/>
          </a:p>
        </p:txBody>
      </p:sp>
      <p:sp>
        <p:nvSpPr>
          <p:cNvPr id="8" name="Text 6"/>
          <p:cNvSpPr/>
          <p:nvPr/>
        </p:nvSpPr>
        <p:spPr>
          <a:xfrm>
            <a:off x="812800" y="3804543"/>
            <a:ext cx="5284724" cy="261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1B2433"/>
                </a:solidFill>
                <a:latin typeface="IBM Plex Sans KR" pitchFamily="34" charset="0"/>
                <a:ea typeface="IBM Plex Sans KR" pitchFamily="34" charset="-122"/>
                <a:cs typeface="IBM Plex Sans KR" pitchFamily="34" charset="-120"/>
              </a:rPr>
              <a:t>Git 공식 문서 (git diff, rename 감지 -M 옵션) · MemoV</a:t>
            </a:r>
            <a:endParaRPr lang="en-US" sz="1200" dirty="0"/>
          </a:p>
        </p:txBody>
      </p:sp>
      <p:sp>
        <p:nvSpPr>
          <p:cNvPr id="9" name="Text 7"/>
          <p:cNvSpPr/>
          <p:nvPr/>
        </p:nvSpPr>
        <p:spPr>
          <a:xfrm>
            <a:off x="6248400" y="1894780"/>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FB3"/>
                </a:solidFill>
                <a:latin typeface="IBM Plex Sans KR" pitchFamily="34" charset="0"/>
                <a:ea typeface="IBM Plex Sans KR" pitchFamily="34" charset="-122"/>
                <a:cs typeface="IBM Plex Sans KR" pitchFamily="34" charset="-120"/>
              </a:rPr>
              <a:t>공식 문서</a:t>
            </a:r>
            <a:endParaRPr lang="en-US" sz="1500" dirty="0"/>
          </a:p>
        </p:txBody>
      </p:sp>
      <p:sp>
        <p:nvSpPr>
          <p:cNvPr id="10" name="Text 8"/>
          <p:cNvSpPr/>
          <p:nvPr/>
        </p:nvSpPr>
        <p:spPr>
          <a:xfrm>
            <a:off x="6340856" y="2250380"/>
            <a:ext cx="5184648" cy="1244302"/>
          </a:xfrm>
          <a:prstGeom prst="rect">
            <a:avLst/>
          </a:prstGeom>
          <a:noFill/>
          <a:ln/>
        </p:spPr>
        <p:txBody>
          <a:bodyPr wrap="square" lIns="0" tIns="0" rIns="0" bIns="0" rtlCol="0" anchor="t">
            <a:normAutofit/>
          </a:bodyPr>
          <a:lstStyle/>
          <a:p>
            <a:pPr algn="l" marL="161544" indent="-161544">
              <a:lnSpc>
                <a:spcPts val="1920"/>
              </a:lnSpc>
              <a:buSzPct val="100000"/>
              <a:buChar char="•"/>
            </a:pPr>
            <a:r>
              <a:rPr lang="en-US" sz="1200" dirty="0">
                <a:solidFill>
                  <a:srgbClr val="1B2433"/>
                </a:solidFill>
                <a:latin typeface="IBM Plex Sans KR" pitchFamily="34" charset="0"/>
                <a:ea typeface="IBM Plex Sans KR" pitchFamily="34" charset="-122"/>
                <a:cs typeface="IBM Plex Sans KR" pitchFamily="34" charset="-120"/>
              </a:rPr>
              <a:t>Python 표준 라이브러리 : difflib, hashlib, zipfile</a:t>
            </a:r>
            <a:endParaRPr lang="en-US" sz="1200" dirty="0"/>
          </a:p>
          <a:p>
            <a:pPr algn="l" marL="161544" indent="-161544">
              <a:lnSpc>
                <a:spcPts val="1920"/>
              </a:lnSpc>
              <a:buSzPct val="100000"/>
              <a:buChar char="•"/>
            </a:pPr>
            <a:r>
              <a:rPr lang="en-US" sz="1200" dirty="0">
                <a:solidFill>
                  <a:srgbClr val="1B2433"/>
                </a:solidFill>
                <a:latin typeface="IBM Plex Sans KR" pitchFamily="34" charset="0"/>
                <a:ea typeface="IBM Plex Sans KR" pitchFamily="34" charset="-122"/>
                <a:cs typeface="IBM Plex Sans KR" pitchFamily="34" charset="-120"/>
              </a:rPr>
              <a:t>Google Gemini API : 구조화 출력(Structured Output)</a:t>
            </a:r>
            <a:endParaRPr lang="en-US" sz="1200" dirty="0"/>
          </a:p>
          <a:p>
            <a:pPr algn="l" marL="161544" indent="-161544">
              <a:lnSpc>
                <a:spcPts val="1920"/>
              </a:lnSpc>
              <a:buSzPct val="100000"/>
              <a:buChar char="•"/>
            </a:pPr>
            <a:r>
              <a:rPr lang="en-US" sz="1200" dirty="0">
                <a:solidFill>
                  <a:srgbClr val="1B2433"/>
                </a:solidFill>
                <a:latin typeface="IBM Plex Sans KR" pitchFamily="34" charset="0"/>
                <a:ea typeface="IBM Plex Sans KR" pitchFamily="34" charset="-122"/>
                <a:cs typeface="IBM Plex Sans KR" pitchFamily="34" charset="-120"/>
              </a:rPr>
              <a:t>pydantic · Jinja2 · Streamlit 공식 문서</a:t>
            </a:r>
            <a:endParaRPr lang="en-US" sz="1200" dirty="0"/>
          </a:p>
          <a:p>
            <a:pPr algn="l" marL="161544" indent="-161544">
              <a:lnSpc>
                <a:spcPts val="1920"/>
              </a:lnSpc>
              <a:buSzPct val="100000"/>
              <a:buChar char="•"/>
            </a:pPr>
            <a:r>
              <a:rPr lang="en-US" sz="1200" dirty="0">
                <a:solidFill>
                  <a:srgbClr val="1B2433"/>
                </a:solidFill>
                <a:latin typeface="IBM Plex Sans KR" pitchFamily="34" charset="0"/>
                <a:ea typeface="IBM Plex Sans KR" pitchFamily="34" charset="-122"/>
                <a:cs typeface="IBM Plex Sans KR" pitchFamily="34" charset="-120"/>
              </a:rPr>
              <a:t>olefile · python-docx 공식 문서</a:t>
            </a:r>
            <a:endParaRPr lang="en-US" sz="1200" dirty="0"/>
          </a:p>
          <a:p>
            <a:pPr algn="l" marL="161544" indent="-161544">
              <a:lnSpc>
                <a:spcPts val="1920"/>
              </a:lnSpc>
              <a:buSzPct val="100000"/>
              <a:buChar char="•"/>
            </a:pPr>
            <a:r>
              <a:rPr lang="en-US" sz="1200" dirty="0">
                <a:solidFill>
                  <a:srgbClr val="1B2433"/>
                </a:solidFill>
                <a:latin typeface="IBM Plex Sans KR" pitchFamily="34" charset="0"/>
                <a:ea typeface="IBM Plex Sans KR" pitchFamily="34" charset="-122"/>
                <a:cs typeface="IBM Plex Sans KR" pitchFamily="34" charset="-120"/>
              </a:rPr>
              <a:t>한글 문서 파일 형식(HWP 5.0) 공개 문서 · 한글과컴퓨터</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KR" pitchFamily="34" charset="0"/>
                <a:ea typeface="IBM Plex Sans KR" pitchFamily="34" charset="-122"/>
                <a:cs typeface="IBM Plex Sans KR" pitchFamily="34" charset="-120"/>
              </a:rPr>
              <a:t>팀 근성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433"/>
        </a:solidFill>
      </p:bgPr>
    </p:bg>
    <p:spTree>
      <p:nvGrpSpPr>
        <p:cNvPr id="1" name=""/>
        <p:cNvGrpSpPr/>
        <p:nvPr/>
      </p:nvGrpSpPr>
      <p:grpSpPr>
        <a:xfrm>
          <a:off x="0" y="0"/>
          <a:ext cx="0" cy="0"/>
          <a:chOff x="0" y="0"/>
          <a:chExt cx="0" cy="0"/>
        </a:xfrm>
      </p:grpSpPr>
      <p:sp>
        <p:nvSpPr>
          <p:cNvPr id="2" name="Text 0"/>
          <p:cNvSpPr/>
          <p:nvPr/>
        </p:nvSpPr>
        <p:spPr>
          <a:xfrm>
            <a:off x="812800" y="23177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0A06B"/>
                </a:solidFill>
                <a:latin typeface="IBM Plex Sans KR" pitchFamily="34" charset="0"/>
                <a:ea typeface="IBM Plex Sans KR" pitchFamily="34" charset="-122"/>
                <a:cs typeface="IBM Plex Sans KR" pitchFamily="34" charset="-120"/>
              </a:rPr>
              <a:t>근거로 확인하는 AI 변경 요약</a:t>
            </a:r>
            <a:endParaRPr lang="en-US" sz="1500" dirty="0"/>
          </a:p>
        </p:txBody>
      </p:sp>
      <p:sp>
        <p:nvSpPr>
          <p:cNvPr id="3" name="Text 1"/>
          <p:cNvSpPr/>
          <p:nvPr>
            <p:ph type="title"/>
          </p:nvPr>
        </p:nvSpPr>
        <p:spPr>
          <a:xfrm>
            <a:off x="812800" y="283845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7F6F2"/>
                </a:solidFill>
                <a:latin typeface="IBM Plex Sans KR" pitchFamily="34" charset="0"/>
                <a:ea typeface="IBM Plex Sans KR" pitchFamily="34" charset="-122"/>
                <a:cs typeface="IBM Plex Sans KR" pitchFamily="34" charset="-120"/>
              </a:rPr>
              <a:t>감사합니다</a:t>
            </a:r>
            <a:endParaRPr lang="en-US" sz="6000" dirty="0"/>
          </a:p>
        </p:txBody>
      </p:sp>
      <p:sp>
        <p:nvSpPr>
          <p:cNvPr id="4" name="Text 2"/>
          <p:cNvSpPr/>
          <p:nvPr/>
        </p:nvSpPr>
        <p:spPr>
          <a:xfrm>
            <a:off x="812800" y="39306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2E0"/>
                </a:solidFill>
                <a:latin typeface="IBM Plex Sans KR" pitchFamily="34" charset="0"/>
                <a:ea typeface="IBM Plex Sans KR" pitchFamily="34" charset="-122"/>
                <a:cs typeface="IBM Plex Sans KR" pitchFamily="34" charset="-120"/>
              </a:rPr>
              <a:t>사실은 엔진이, 해석은 AI가, 판단은 근거로</a:t>
            </a:r>
            <a:endParaRPr lang="en-US" sz="2000" dirty="0"/>
          </a:p>
        </p:txBody>
      </p:sp>
    </p:spTree>
  </p:cSld>
  <p:clrMapOvr>
    <a:masterClrMapping/>
  </p:clrMapOvr>
</p:sld>
</file>

<file path=ppt/theme/theme1.xml><?xml version="1.0" encoding="utf-8"?>
<a:theme xmlns:a="http://schemas.openxmlformats.org/drawingml/2006/main" name="근거로 확인하는 AI 변경 요약 — 프로젝트 기획 발표">
  <a:themeElements>
    <a:clrScheme name="근거로 확인하는 AI 변경 요약 — 프로젝트 기획 발표">
      <a:dk1>
        <a:srgbClr val="1B2433"/>
      </a:dk1>
      <a:lt1>
        <a:srgbClr val="F7F6F2"/>
      </a:lt1>
      <a:dk2>
        <a:srgbClr val="525963"/>
      </a:dk2>
      <a:lt2>
        <a:srgbClr val="E1E1DF"/>
      </a:lt2>
      <a:accent1>
        <a:srgbClr val="B44D1A"/>
      </a:accent1>
      <a:accent2>
        <a:srgbClr val="2F5FB3"/>
      </a:accent2>
      <a:accent3>
        <a:srgbClr val="F0A06B"/>
      </a:accent3>
      <a:accent4>
        <a:srgbClr val="8FB1EE"/>
      </a:accent4>
      <a:accent5>
        <a:srgbClr val="4A5568"/>
      </a:accent5>
      <a:accent6>
        <a:srgbClr val="6B7280"/>
      </a:accent6>
      <a:hlink>
        <a:srgbClr val="0563C1"/>
      </a:hlink>
      <a:folHlink>
        <a:srgbClr val="954F72"/>
      </a:folHlink>
    </a:clrScheme>
    <a:fontScheme name="근거로 확인하는 AI 변경 요약 — 프로젝트 기획 발표">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근거로 확인하는 AI 변경 요약 — 프로젝트 기획 발표</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2026-10-22T06:55:25Z</dcterms:created>
  <dcterms:modified xsi:type="dcterms:W3CDTF">2026-10-22T06:55:25Z</dcterms:modified>
</cp:coreProperties>
</file>